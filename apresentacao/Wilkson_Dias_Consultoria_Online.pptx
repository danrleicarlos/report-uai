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8cf4864-dda9-1497-86cf-d5364143a835}">
          <p14:sldIdLst>
            <p14:sldId id="256"/>
          </p14:sldIdLst>
        </p14:section>
        <p14:section name="A história" id="{36974b15-eb75-3814-8294-7ff719bf7c42}">
          <p14:sldIdLst>
            <p14:sldId id="257"/>
            <p14:sldId id="258"/>
            <p14:sldId id="259"/>
          </p14:sldIdLst>
        </p14:section>
        <p14:section name="O método" id="{df4045b1-850d-4d07-7a5e-5d2f4430fd99}">
          <p14:sldIdLst>
            <p14:sldId id="260"/>
            <p14:sldId id="261"/>
            <p14:sldId id="262"/>
            <p14:sldId id="263"/>
            <p14:sldId id="264"/>
          </p14:sldIdLst>
        </p14:section>
        <p14:section name="Investimento" id="{4bd98a5a-935b-f2a1-d443-6e273b331fd0}">
          <p14:sldIdLst>
            <p14:sldId id="265"/>
            <p14:sldId id="266"/>
            <p14:sldId id="267"/>
            <p14:sldId id="268"/>
          </p14:sldIdLst>
        </p14:section>
        <p14:section name="Decisão" id="{e818f4c7-f4ae-3a9c-8e86-d94e6533e2e1}">
          <p14:sldIdLst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Não se apresente ainda: comece pela pessoa. 'Antes de falar de mim, quero falar de você e do que te trouxe até aqui.'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Gancho. Pergunte o que a pessoa já tentou. Deixe ela citar exemplos antes de mostrar a lista. O objetivo é tirar a culpa dela e colocar no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são os obstáculos que mais aparecem na ficha de atleta. Pergunte: qual desses é o seu chefão número 1? Use a resposta da ficha da pessoa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virada da história. Leia a frase em voz alta e faça uma pausa. Daqui pra frente, o assunto é como a consistência é construída.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Troque a imagem pela sua foto (botão direito &gt; Substituir imagem) e atualize os três números: anos de experiência, alunos acompanhados e CREF. Conte em 30 segundos por que você trabalha com consultoria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do método vem do seu sobrenome: D.I.A.S. Explique cada letra com um exemplo real de aluno. Esse é o diferencial que nenhum outro personal 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existe começo, meio e fim. A pessoa precisa enxergar o caminho antes de se comprometer.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tiver prints do seu app real, substitua a imagem do tablet.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 referência de mercado. Ajuste para a sua cidade. Pare na última linha: é a ponte para falar de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preço. Antes de mostrar valores, pergunte: o que mudaria na sua vida se esse problema estivesse resolvido daqui a 90 dias?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Ancoragem: mostre o total primeiro, só depois o bloco amarelo. Valores de referência, ajuste para a sua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 proposital: Elite primeiro (âncora), Performance no centro (recomendado), Essencial por último. Valores sugeridos, ajuste antes de usar.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R$ 397 dividido por 30 dias dá cerca de R$ 13. Traduza o valor para o dia a dia da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objeções que a pessoa marcou na ficha. Não espere ela perguntar: antecipe.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pelas fotos e depoimentos reais (com autorização dos alunos). Resultado com número convence mais que elogio.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garantia de 7 dias já é direito do consumidor em compras online. Apresente como segurança, não como favor.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uma pergunta direta: qual plano faz mais sentido pra você começar essa semana? Atualize WhatsApp e Instagram.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Atualize os contatos.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 escuro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5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pic>
        <p:nvPicPr>
          <p:cNvPr id="4" name="Image 0" descr="/tmp/claude-0/-home-user-report-uai/8324a330-e0ac-5b09-8410-ca20346f9793/scratchpad/deck/assets/sym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502920" cy="22768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88720" y="63367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WILKSON DIAS · CONSULTORIA ONLINE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 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pic>
        <p:nvPicPr>
          <p:cNvPr id="4" name="Image 0" descr="/tmp/claude-0/-home-user-report-uai/8324a330-e0ac-5b09-8410-ca20346f9793/scratchpad/deck/assets/sym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502920" cy="22768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88720" y="63367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WILKSON DIAS · CONSULTORIA ONLINE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vre escuro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vre 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 amarelo">
    <p:bg>
      <p:bgPr>
        <a:solidFill>
          <a:srgbClr val="F5B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onais" descr="/tmp/claude-0/-home-user-report-uai/8324a330-e0ac-5b09-8410-ca20346f9793/scratchpad/deck/assets/strip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0"/>
            <a:ext cx="6096305" cy="6858000"/>
          </a:xfrm>
          <a:prstGeom prst="rect">
            <a:avLst/>
          </a:prstGeom>
        </p:spPr>
      </p:pic>
      <p:pic>
        <p:nvPicPr>
          <p:cNvPr id="3" name="monograma" descr="/tmp/claude-0/-home-user-report-uai/8324a330-e0ac-5b09-8410-ca20346f9793/scratchpad/deck/assets/sym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8840"/>
            <a:ext cx="5120640" cy="2316175"/>
          </a:xfrm>
          <a:prstGeom prst="rect">
            <a:avLst/>
          </a:prstGeom>
        </p:spPr>
      </p:pic>
      <p:pic>
        <p:nvPicPr>
          <p:cNvPr id="4" name="logo" descr="/tmp/claude-0/-home-user-report-uai/8324a330-e0ac-5b09-8410-ca20346f9793/scratchpad/deck/assets/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25880" cy="822960"/>
          </a:xfrm>
          <a:prstGeom prst="rect">
            <a:avLst/>
          </a:prstGeom>
        </p:spPr>
      </p:pic>
      <p:sp>
        <p:nvSpPr>
          <p:cNvPr id="5" name="txt-1"/>
          <p:cNvSpPr txBox="1"/>
          <p:nvPr/>
        </p:nvSpPr>
        <p:spPr>
          <a:xfrm>
            <a:off x="548640" y="21031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CONSULTORIA ONLINE · 2026</a:t>
            </a:r>
            <a:endParaRPr lang="en-US" sz="1300" dirty="0"/>
          </a:p>
        </p:txBody>
      </p:sp>
      <p:sp>
        <p:nvSpPr>
          <p:cNvPr id="6" name="txt-2"/>
          <p:cNvSpPr txBox="1"/>
          <p:nvPr/>
        </p:nvSpPr>
        <p:spPr>
          <a:xfrm>
            <a:off x="548640" y="256032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Performance com identidade.</a:t>
            </a:r>
            <a:endParaRPr lang="en-US" sz="5800" dirty="0"/>
          </a:p>
        </p:txBody>
      </p:sp>
      <p:sp>
        <p:nvSpPr>
          <p:cNvPr id="7" name="txt-3"/>
          <p:cNvSpPr txBox="1"/>
          <p:nvPr/>
        </p:nvSpPr>
        <p:spPr>
          <a:xfrm>
            <a:off x="548640" y="4617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 método de treino que cabe na sua rotina e acompanha você de perto, de onde você estiver.</a:t>
            </a:r>
            <a:endParaRPr lang="en-US" sz="1800" dirty="0"/>
          </a:p>
        </p:txBody>
      </p:sp>
      <p:sp>
        <p:nvSpPr>
          <p:cNvPr id="8" name="txt-4"/>
          <p:cNvSpPr txBox="1"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WILKSON DIAS · PERSONAL TRAINER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5"/>
          <p:cNvSpPr txBox="1"/>
          <p:nvPr/>
        </p:nvSpPr>
        <p:spPr>
          <a:xfrm>
            <a:off x="548640" y="8229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ANTES DE TUDO</a:t>
            </a:r>
            <a:endParaRPr lang="en-US" sz="1200" dirty="0"/>
          </a:p>
        </p:txBody>
      </p:sp>
      <p:sp>
        <p:nvSpPr>
          <p:cNvPr id="3" name="gancho-6"/>
          <p:cNvSpPr txBox="1"/>
          <p:nvPr/>
        </p:nvSpPr>
        <p:spPr>
          <a:xfrm>
            <a:off x="548640" y="128016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44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Você não precisa de mais um treino.</a:t>
            </a:r>
            <a:endParaRPr lang="en-US" sz="4400" dirty="0"/>
          </a:p>
          <a:p>
            <a:pPr indent="0" marL="0">
              <a:lnSpc>
                <a:spcPct val="95000"/>
              </a:lnSpc>
              <a:spcAft>
                <a:spcPts val="1400"/>
              </a:spcAft>
              <a:buNone/>
            </a:pPr>
            <a:r>
              <a:rPr lang="en-US" sz="4400" b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Precisa de um método que caiba na sua vida.</a:t>
            </a:r>
            <a:endParaRPr lang="en-US" sz="4400" dirty="0"/>
          </a:p>
        </p:txBody>
      </p:sp>
      <p:sp>
        <p:nvSpPr>
          <p:cNvPr id="4" name="txt-7"/>
          <p:cNvSpPr txBox="1"/>
          <p:nvPr/>
        </p:nvSpPr>
        <p:spPr>
          <a:xfrm>
            <a:off x="548640" y="4846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 você já tentou de tudo e sempre volta à estaca zero, o problema nunca foi força de vontade. Foi falta de estratégia.</a:t>
            </a:r>
            <a:endParaRPr lang="en-US" sz="1700" dirty="0"/>
          </a:p>
        </p:txBody>
      </p:sp>
      <p:sp>
        <p:nvSpPr>
          <p:cNvPr id="5" name="box-8"/>
          <p:cNvSpPr/>
          <p:nvPr/>
        </p:nvSpPr>
        <p:spPr>
          <a:xfrm>
            <a:off x="7680960" y="822960"/>
            <a:ext cx="3962095" cy="5257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xt-9"/>
          <p:cNvSpPr txBox="1"/>
          <p:nvPr/>
        </p:nvSpPr>
        <p:spPr>
          <a:xfrm>
            <a:off x="804672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 QUE VOCÊ JÁ TENTOU</a:t>
            </a:r>
            <a:endParaRPr lang="en-US" sz="1200" dirty="0"/>
          </a:p>
        </p:txBody>
      </p:sp>
      <p:sp>
        <p:nvSpPr>
          <p:cNvPr id="7" name="txt-10"/>
          <p:cNvSpPr txBox="1"/>
          <p:nvPr/>
        </p:nvSpPr>
        <p:spPr>
          <a:xfrm>
            <a:off x="804672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trike="sngStrike" dirty="0">
                <a:solidFill>
                  <a:schemeClr val="accent6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Planilha da internet</a:t>
            </a:r>
            <a:endParaRPr lang="en-US" sz="2100" dirty="0"/>
          </a:p>
        </p:txBody>
      </p:sp>
      <p:sp>
        <p:nvSpPr>
          <p:cNvPr id="8" name="txt-11"/>
          <p:cNvSpPr txBox="1"/>
          <p:nvPr/>
        </p:nvSpPr>
        <p:spPr>
          <a:xfrm>
            <a:off x="8046720" y="2267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trike="sngStrike" dirty="0">
                <a:solidFill>
                  <a:schemeClr val="accent6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Desafio de 30 dias</a:t>
            </a:r>
            <a:endParaRPr lang="en-US" sz="2100" dirty="0"/>
          </a:p>
        </p:txBody>
      </p:sp>
      <p:sp>
        <p:nvSpPr>
          <p:cNvPr id="9" name="txt-12"/>
          <p:cNvSpPr txBox="1"/>
          <p:nvPr/>
        </p:nvSpPr>
        <p:spPr>
          <a:xfrm>
            <a:off x="8046720" y="28895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trike="sngStrike" dirty="0">
                <a:solidFill>
                  <a:schemeClr val="accent6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Dieta da moda</a:t>
            </a:r>
            <a:endParaRPr lang="en-US" sz="2100" dirty="0"/>
          </a:p>
        </p:txBody>
      </p:sp>
      <p:sp>
        <p:nvSpPr>
          <p:cNvPr id="10" name="txt-13"/>
          <p:cNvSpPr txBox="1"/>
          <p:nvPr/>
        </p:nvSpPr>
        <p:spPr>
          <a:xfrm>
            <a:off x="8046720" y="3511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trike="sngStrike" dirty="0">
                <a:solidFill>
                  <a:schemeClr val="accent6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Treino do influencer</a:t>
            </a:r>
            <a:endParaRPr lang="en-US" sz="2100" dirty="0"/>
          </a:p>
        </p:txBody>
      </p:sp>
      <p:sp>
        <p:nvSpPr>
          <p:cNvPr id="11" name="txt-14"/>
          <p:cNvSpPr txBox="1"/>
          <p:nvPr/>
        </p:nvSpPr>
        <p:spPr>
          <a:xfrm>
            <a:off x="8046720" y="4133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trike="sngStrike" dirty="0">
                <a:solidFill>
                  <a:schemeClr val="accent6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“Começo na segunda”</a:t>
            </a:r>
            <a:endParaRPr lang="en-US" sz="2100" dirty="0"/>
          </a:p>
        </p:txBody>
      </p:sp>
      <p:sp>
        <p:nvSpPr>
          <p:cNvPr id="12" name="box-15"/>
          <p:cNvSpPr/>
          <p:nvPr/>
        </p:nvSpPr>
        <p:spPr>
          <a:xfrm>
            <a:off x="8046720" y="5074920"/>
            <a:ext cx="219456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xt-16"/>
          <p:cNvSpPr txBox="1"/>
          <p:nvPr/>
        </p:nvSpPr>
        <p:spPr>
          <a:xfrm>
            <a:off x="8046720" y="5074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Nenhum durou.</a:t>
            </a:r>
            <a:endParaRPr lang="en-US" sz="17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 PROBLEMA REAL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Os 4 chefões que derrubam seu plano</a:t>
            </a:r>
            <a:endParaRPr lang="en-US" sz="3600" dirty="0"/>
          </a:p>
        </p:txBody>
      </p:sp>
      <p:sp>
        <p:nvSpPr>
          <p:cNvPr id="4" name="box-17"/>
          <p:cNvSpPr/>
          <p:nvPr/>
        </p:nvSpPr>
        <p:spPr>
          <a:xfrm>
            <a:off x="548640" y="2057400"/>
            <a:ext cx="2567864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xt-18"/>
          <p:cNvSpPr txBox="1"/>
          <p:nvPr/>
        </p:nvSpPr>
        <p:spPr>
          <a:xfrm>
            <a:off x="822960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xt-19"/>
          <p:cNvSpPr txBox="1"/>
          <p:nvPr/>
        </p:nvSpPr>
        <p:spPr>
          <a:xfrm>
            <a:off x="822960" y="32461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Constância</a:t>
            </a:r>
            <a:endParaRPr lang="en-US" sz="2000" dirty="0"/>
          </a:p>
        </p:txBody>
      </p:sp>
      <p:sp>
        <p:nvSpPr>
          <p:cNvPr id="7" name="txt-20"/>
          <p:cNvSpPr txBox="1"/>
          <p:nvPr/>
        </p:nvSpPr>
        <p:spPr>
          <a:xfrm>
            <a:off x="822960" y="416052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Começa empolgado e para na terceira semana.</a:t>
            </a:r>
            <a:endParaRPr lang="en-US" sz="1500" dirty="0"/>
          </a:p>
        </p:txBody>
      </p:sp>
      <p:sp>
        <p:nvSpPr>
          <p:cNvPr id="8" name="box-21"/>
          <p:cNvSpPr/>
          <p:nvPr/>
        </p:nvSpPr>
        <p:spPr>
          <a:xfrm>
            <a:off x="3390824" y="2057400"/>
            <a:ext cx="2567864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xt-22"/>
          <p:cNvSpPr txBox="1"/>
          <p:nvPr/>
        </p:nvSpPr>
        <p:spPr>
          <a:xfrm>
            <a:off x="3665144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xt-23"/>
          <p:cNvSpPr txBox="1"/>
          <p:nvPr/>
        </p:nvSpPr>
        <p:spPr>
          <a:xfrm>
            <a:off x="3665144" y="32461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Rotina corrida</a:t>
            </a:r>
            <a:endParaRPr lang="en-US" sz="2000" dirty="0"/>
          </a:p>
        </p:txBody>
      </p:sp>
      <p:sp>
        <p:nvSpPr>
          <p:cNvPr id="11" name="txt-24"/>
          <p:cNvSpPr txBox="1"/>
          <p:nvPr/>
        </p:nvSpPr>
        <p:spPr>
          <a:xfrm>
            <a:off x="3665144" y="416052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Trabalho, casa, família. O treino sempre fica pra depois.</a:t>
            </a:r>
            <a:endParaRPr lang="en-US" sz="1500" dirty="0"/>
          </a:p>
        </p:txBody>
      </p:sp>
      <p:sp>
        <p:nvSpPr>
          <p:cNvPr id="12" name="box-25"/>
          <p:cNvSpPr/>
          <p:nvPr/>
        </p:nvSpPr>
        <p:spPr>
          <a:xfrm>
            <a:off x="6233008" y="2057400"/>
            <a:ext cx="2567864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xt-26"/>
          <p:cNvSpPr txBox="1"/>
          <p:nvPr/>
        </p:nvSpPr>
        <p:spPr>
          <a:xfrm>
            <a:off x="6507328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xt-27"/>
          <p:cNvSpPr txBox="1"/>
          <p:nvPr/>
        </p:nvSpPr>
        <p:spPr>
          <a:xfrm>
            <a:off x="6507328" y="32461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Alimentação e ansiedade</a:t>
            </a:r>
            <a:endParaRPr lang="en-US" sz="2000" dirty="0"/>
          </a:p>
        </p:txBody>
      </p:sp>
      <p:sp>
        <p:nvSpPr>
          <p:cNvPr id="15" name="txt-28"/>
          <p:cNvSpPr txBox="1"/>
          <p:nvPr/>
        </p:nvSpPr>
        <p:spPr>
          <a:xfrm>
            <a:off x="6507328" y="416052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dia aperta e a compensação vem no prato.</a:t>
            </a:r>
            <a:endParaRPr lang="en-US" sz="1500" dirty="0"/>
          </a:p>
        </p:txBody>
      </p:sp>
      <p:sp>
        <p:nvSpPr>
          <p:cNvPr id="16" name="box-29"/>
          <p:cNvSpPr/>
          <p:nvPr/>
        </p:nvSpPr>
        <p:spPr>
          <a:xfrm>
            <a:off x="9075191" y="2057400"/>
            <a:ext cx="2567864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xt-30"/>
          <p:cNvSpPr txBox="1"/>
          <p:nvPr/>
        </p:nvSpPr>
        <p:spPr>
          <a:xfrm>
            <a:off x="9349511" y="2286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04</a:t>
            </a:r>
            <a:endParaRPr lang="en-US" sz="4800" dirty="0"/>
          </a:p>
        </p:txBody>
      </p:sp>
      <p:sp>
        <p:nvSpPr>
          <p:cNvPr id="18" name="txt-31"/>
          <p:cNvSpPr txBox="1"/>
          <p:nvPr/>
        </p:nvSpPr>
        <p:spPr>
          <a:xfrm>
            <a:off x="9349511" y="324612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Falta de direção</a:t>
            </a:r>
            <a:endParaRPr lang="en-US" sz="2000" dirty="0"/>
          </a:p>
        </p:txBody>
      </p:sp>
      <p:sp>
        <p:nvSpPr>
          <p:cNvPr id="19" name="txt-32"/>
          <p:cNvSpPr txBox="1"/>
          <p:nvPr/>
        </p:nvSpPr>
        <p:spPr>
          <a:xfrm>
            <a:off x="9349511" y="4160520"/>
            <a:ext cx="2019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Treina sem saber se está fazendo o certo.</a:t>
            </a:r>
            <a:endParaRPr lang="en-US" sz="1500" dirty="0"/>
          </a:p>
        </p:txBody>
      </p:sp>
      <p:sp>
        <p:nvSpPr>
          <p:cNvPr id="20" name="frase-33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Nenhum deles se vence com força de vontade. Se vence com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estratégia.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onais" descr="/tmp/claude-0/-home-user-report-uai/8324a330-e0ac-5b09-8410-ca20346f9793/scratchpad/deck/assets/stripes_on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ox-34"/>
          <p:cNvSpPr/>
          <p:nvPr/>
        </p:nvSpPr>
        <p:spPr>
          <a:xfrm rot="-360000">
            <a:off x="-1097280" y="5257800"/>
            <a:ext cx="14447520" cy="868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xt-35"/>
          <p:cNvSpPr txBox="1"/>
          <p:nvPr/>
        </p:nvSpPr>
        <p:spPr>
          <a:xfrm>
            <a:off x="548640" y="3200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“</a:t>
            </a:r>
            <a:endParaRPr lang="en-US" sz="14000" dirty="0"/>
          </a:p>
        </p:txBody>
      </p:sp>
      <p:sp>
        <p:nvSpPr>
          <p:cNvPr id="5" name="txt-36"/>
          <p:cNvSpPr txBox="1"/>
          <p:nvPr/>
        </p:nvSpPr>
        <p:spPr>
          <a:xfrm>
            <a:off x="548640" y="1600200"/>
            <a:ext cx="9875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Performance não é intensidade momentânea. É consistência todos os dias.</a:t>
            </a:r>
            <a:endParaRPr lang="en-US" sz="5000" dirty="0"/>
          </a:p>
        </p:txBody>
      </p:sp>
      <p:sp>
        <p:nvSpPr>
          <p:cNvPr id="6" name="txt-37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WILKSON DIAS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38"/>
          <p:cNvSpPr/>
          <p:nvPr/>
        </p:nvSpPr>
        <p:spPr>
          <a:xfrm>
            <a:off x="777240" y="777240"/>
            <a:ext cx="3931920" cy="5001768"/>
          </a:xfrm>
          <a:prstGeom prst="rect">
            <a:avLst/>
          </a:prstGeom>
          <a:ln w="38100">
            <a:solidFill>
              <a:schemeClr val="accent1"/>
            </a:solidFill>
            <a:prstDash val="solid"/>
          </a:ln>
        </p:spPr>
      </p:sp>
      <p:pic>
        <p:nvPicPr>
          <p:cNvPr id="3" name="foto-wilkson" descr="Foto do Wilkson D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931920" cy="5001768"/>
          </a:xfrm>
          <a:prstGeom prst="rect">
            <a:avLst/>
          </a:prstGeom>
        </p:spPr>
      </p:pic>
      <p:sp>
        <p:nvSpPr>
          <p:cNvPr id="4" name="txt-39"/>
          <p:cNvSpPr txBox="1"/>
          <p:nvPr/>
        </p:nvSpPr>
        <p:spPr>
          <a:xfrm>
            <a:off x="5257800" y="685800"/>
            <a:ext cx="6385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QUEM VAI TE ACOMPANHAR</a:t>
            </a:r>
            <a:endParaRPr lang="en-US" sz="1200" dirty="0"/>
          </a:p>
        </p:txBody>
      </p:sp>
      <p:sp>
        <p:nvSpPr>
          <p:cNvPr id="5" name="txt-40"/>
          <p:cNvSpPr txBox="1"/>
          <p:nvPr/>
        </p:nvSpPr>
        <p:spPr>
          <a:xfrm>
            <a:off x="5257800" y="1051560"/>
            <a:ext cx="6385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Wilkson Dias</a:t>
            </a:r>
            <a:endParaRPr lang="en-US" sz="4600" dirty="0"/>
          </a:p>
        </p:txBody>
      </p:sp>
      <p:sp>
        <p:nvSpPr>
          <p:cNvPr id="6" name="txt-41"/>
          <p:cNvSpPr txBox="1"/>
          <p:nvPr/>
        </p:nvSpPr>
        <p:spPr>
          <a:xfrm>
            <a:off x="5257800" y="1920240"/>
            <a:ext cx="6385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Personal trainer · Consultoria online</a:t>
            </a:r>
            <a:endParaRPr lang="en-US" sz="1700" dirty="0"/>
          </a:p>
        </p:txBody>
      </p:sp>
      <p:sp>
        <p:nvSpPr>
          <p:cNvPr id="7" name="txt-42"/>
          <p:cNvSpPr txBox="1"/>
          <p:nvPr/>
        </p:nvSpPr>
        <p:spPr>
          <a:xfrm>
            <a:off x="5257800" y="2423160"/>
            <a:ext cx="638525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Especialista em transformar rotina corrida em resultado consistente. Meu trabalho é tirar o achismo do seu treino: cada série, cada ajuste e cada semana têm um porquê.</a:t>
            </a:r>
            <a:endParaRPr lang="en-US" sz="1700" dirty="0"/>
          </a:p>
        </p:txBody>
      </p:sp>
      <p:sp>
        <p:nvSpPr>
          <p:cNvPr id="8" name="txt-43"/>
          <p:cNvSpPr txBox="1"/>
          <p:nvPr/>
        </p:nvSpPr>
        <p:spPr>
          <a:xfrm>
            <a:off x="5257800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00+</a:t>
            </a:r>
            <a:endParaRPr lang="en-US" sz="3600" dirty="0"/>
          </a:p>
        </p:txBody>
      </p:sp>
      <p:sp>
        <p:nvSpPr>
          <p:cNvPr id="9" name="txt-44"/>
          <p:cNvSpPr txBox="1"/>
          <p:nvPr/>
        </p:nvSpPr>
        <p:spPr>
          <a:xfrm>
            <a:off x="52578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anos de experiência</a:t>
            </a:r>
            <a:endParaRPr lang="en-US" sz="1400" dirty="0"/>
          </a:p>
        </p:txBody>
      </p:sp>
      <p:sp>
        <p:nvSpPr>
          <p:cNvPr id="10" name="txt-45"/>
          <p:cNvSpPr txBox="1"/>
          <p:nvPr/>
        </p:nvSpPr>
        <p:spPr>
          <a:xfrm>
            <a:off x="7406640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000+</a:t>
            </a:r>
            <a:endParaRPr lang="en-US" sz="3600" dirty="0"/>
          </a:p>
        </p:txBody>
      </p:sp>
      <p:sp>
        <p:nvSpPr>
          <p:cNvPr id="11" name="txt-46"/>
          <p:cNvSpPr txBox="1"/>
          <p:nvPr/>
        </p:nvSpPr>
        <p:spPr>
          <a:xfrm>
            <a:off x="740664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alunos acompanhados</a:t>
            </a:r>
            <a:endParaRPr lang="en-US" sz="1400" dirty="0"/>
          </a:p>
        </p:txBody>
      </p:sp>
      <p:sp>
        <p:nvSpPr>
          <p:cNvPr id="12" name="txt-47"/>
          <p:cNvSpPr txBox="1"/>
          <p:nvPr/>
        </p:nvSpPr>
        <p:spPr>
          <a:xfrm>
            <a:off x="9555480" y="3977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CREF</a:t>
            </a:r>
            <a:endParaRPr lang="en-US" sz="3600" dirty="0"/>
          </a:p>
        </p:txBody>
      </p:sp>
      <p:sp>
        <p:nvSpPr>
          <p:cNvPr id="13" name="txt-48"/>
          <p:cNvSpPr txBox="1"/>
          <p:nvPr/>
        </p:nvSpPr>
        <p:spPr>
          <a:xfrm>
            <a:off x="955548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000000-G/UF</a:t>
            </a:r>
            <a:endParaRPr lang="en-US" sz="1400" dirty="0"/>
          </a:p>
        </p:txBody>
      </p:sp>
      <p:sp>
        <p:nvSpPr>
          <p:cNvPr id="14" name="box-49"/>
          <p:cNvSpPr/>
          <p:nvPr/>
        </p:nvSpPr>
        <p:spPr>
          <a:xfrm>
            <a:off x="5257800" y="5349240"/>
            <a:ext cx="1394460" cy="411480"/>
          </a:xfrm>
          <a:prstGeom prst="rect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5" name="txt-50"/>
          <p:cNvSpPr txBox="1"/>
          <p:nvPr/>
        </p:nvSpPr>
        <p:spPr>
          <a:xfrm>
            <a:off x="5257800" y="5349240"/>
            <a:ext cx="13944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6" name="box-51"/>
          <p:cNvSpPr/>
          <p:nvPr/>
        </p:nvSpPr>
        <p:spPr>
          <a:xfrm>
            <a:off x="6789420" y="5349240"/>
            <a:ext cx="2080260" cy="411480"/>
          </a:xfrm>
          <a:prstGeom prst="rect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7" name="txt-52"/>
          <p:cNvSpPr txBox="1"/>
          <p:nvPr/>
        </p:nvSpPr>
        <p:spPr>
          <a:xfrm>
            <a:off x="6789420" y="5349240"/>
            <a:ext cx="2080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COMPROMETIMENTO</a:t>
            </a:r>
            <a:endParaRPr lang="en-US" sz="1100" dirty="0"/>
          </a:p>
        </p:txBody>
      </p:sp>
      <p:sp>
        <p:nvSpPr>
          <p:cNvPr id="18" name="box-53"/>
          <p:cNvSpPr/>
          <p:nvPr/>
        </p:nvSpPr>
        <p:spPr>
          <a:xfrm>
            <a:off x="9006840" y="5349240"/>
            <a:ext cx="2308860" cy="411480"/>
          </a:xfrm>
          <a:prstGeom prst="rect">
            <a:avLst/>
          </a:prstGeom>
          <a:ln w="15875">
            <a:solidFill>
              <a:schemeClr val="tx1"/>
            </a:solidFill>
            <a:prstDash val="solid"/>
          </a:ln>
        </p:spPr>
      </p:sp>
      <p:sp>
        <p:nvSpPr>
          <p:cNvPr id="19" name="txt-54"/>
          <p:cNvSpPr txBox="1"/>
          <p:nvPr/>
        </p:nvSpPr>
        <p:spPr>
          <a:xfrm>
            <a:off x="9006840" y="534924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EVOLUÇÃO CONTÍNUA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e" descr="/tmp/claude-0/-home-user-report-uai/8324a330-e0ac-5b09-8410-ca20346f9793/scratchpad/deck/asset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0"/>
            <a:ext cx="609630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 SISTEMA POR TRÁS DO RESULTADO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Método D.I.A.S.</a:t>
            </a:r>
            <a:endParaRPr lang="en-US" sz="3600" dirty="0"/>
          </a:p>
        </p:txBody>
      </p:sp>
      <p:sp>
        <p:nvSpPr>
          <p:cNvPr id="5" name="txt-55"/>
          <p:cNvSpPr txBox="1"/>
          <p:nvPr/>
        </p:nvSpPr>
        <p:spPr>
          <a:xfrm>
            <a:off x="54864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Quatro etapas, uma lógica: entender antes de prescrever, ajustar antes de estagnar.</a:t>
            </a:r>
            <a:endParaRPr lang="en-US" sz="1800" dirty="0"/>
          </a:p>
        </p:txBody>
      </p:sp>
      <p:sp>
        <p:nvSpPr>
          <p:cNvPr id="6" name="txt-56"/>
          <p:cNvSpPr txBox="1"/>
          <p:nvPr/>
        </p:nvSpPr>
        <p:spPr>
          <a:xfrm>
            <a:off x="548640" y="2331720"/>
            <a:ext cx="2567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</a:t>
            </a:r>
            <a:endParaRPr lang="en-US" sz="12000" dirty="0"/>
          </a:p>
        </p:txBody>
      </p:sp>
      <p:sp>
        <p:nvSpPr>
          <p:cNvPr id="7" name="txt-57"/>
          <p:cNvSpPr txBox="1"/>
          <p:nvPr/>
        </p:nvSpPr>
        <p:spPr>
          <a:xfrm>
            <a:off x="548640" y="406908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Diagnóstico</a:t>
            </a:r>
            <a:endParaRPr lang="en-US" sz="2100" dirty="0"/>
          </a:p>
        </p:txBody>
      </p:sp>
      <p:sp>
        <p:nvSpPr>
          <p:cNvPr id="8" name="txt-58"/>
          <p:cNvSpPr txBox="1"/>
          <p:nvPr/>
        </p:nvSpPr>
        <p:spPr>
          <a:xfrm>
            <a:off x="548640" y="4572000"/>
            <a:ext cx="233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Ficha, anamnese e avaliação. Entendo seu corpo, sua rotina e seus limites antes do primeiro treino.</a:t>
            </a:r>
            <a:endParaRPr lang="en-US" sz="1500" dirty="0"/>
          </a:p>
        </p:txBody>
      </p:sp>
      <p:sp>
        <p:nvSpPr>
          <p:cNvPr id="9" name="sep-59"/>
          <p:cNvSpPr/>
          <p:nvPr/>
        </p:nvSpPr>
        <p:spPr>
          <a:xfrm>
            <a:off x="3253664" y="2606040"/>
            <a:ext cx="0" cy="32918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-60"/>
          <p:cNvSpPr txBox="1"/>
          <p:nvPr/>
        </p:nvSpPr>
        <p:spPr>
          <a:xfrm>
            <a:off x="3390824" y="2331720"/>
            <a:ext cx="2567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I</a:t>
            </a:r>
            <a:endParaRPr lang="en-US" sz="12000" dirty="0"/>
          </a:p>
        </p:txBody>
      </p:sp>
      <p:sp>
        <p:nvSpPr>
          <p:cNvPr id="11" name="txt-61"/>
          <p:cNvSpPr txBox="1"/>
          <p:nvPr/>
        </p:nvSpPr>
        <p:spPr>
          <a:xfrm>
            <a:off x="3390824" y="406908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Individualização</a:t>
            </a:r>
            <a:endParaRPr lang="en-US" sz="2100" dirty="0"/>
          </a:p>
        </p:txBody>
      </p:sp>
      <p:sp>
        <p:nvSpPr>
          <p:cNvPr id="12" name="txt-62"/>
          <p:cNvSpPr txBox="1"/>
          <p:nvPr/>
        </p:nvSpPr>
        <p:spPr>
          <a:xfrm>
            <a:off x="3390824" y="4572000"/>
            <a:ext cx="233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Treino montado para o seu tempo, seu local e seu nível. Nada de planilha genérica.</a:t>
            </a:r>
            <a:endParaRPr lang="en-US" sz="1500" dirty="0"/>
          </a:p>
        </p:txBody>
      </p:sp>
      <p:sp>
        <p:nvSpPr>
          <p:cNvPr id="13" name="sep-63"/>
          <p:cNvSpPr/>
          <p:nvPr/>
        </p:nvSpPr>
        <p:spPr>
          <a:xfrm>
            <a:off x="6095848" y="2606040"/>
            <a:ext cx="0" cy="32918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-64"/>
          <p:cNvSpPr txBox="1"/>
          <p:nvPr/>
        </p:nvSpPr>
        <p:spPr>
          <a:xfrm>
            <a:off x="6233008" y="2331720"/>
            <a:ext cx="2567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</a:t>
            </a:r>
            <a:endParaRPr lang="en-US" sz="12000" dirty="0"/>
          </a:p>
        </p:txBody>
      </p:sp>
      <p:sp>
        <p:nvSpPr>
          <p:cNvPr id="15" name="txt-65"/>
          <p:cNvSpPr txBox="1"/>
          <p:nvPr/>
        </p:nvSpPr>
        <p:spPr>
          <a:xfrm>
            <a:off x="6233008" y="406908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Acompanhamento</a:t>
            </a:r>
            <a:endParaRPr lang="en-US" sz="2100" dirty="0"/>
          </a:p>
        </p:txBody>
      </p:sp>
      <p:sp>
        <p:nvSpPr>
          <p:cNvPr id="16" name="txt-66"/>
          <p:cNvSpPr txBox="1"/>
          <p:nvPr/>
        </p:nvSpPr>
        <p:spPr>
          <a:xfrm>
            <a:off x="6233008" y="4572000"/>
            <a:ext cx="233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Check-in semanal, ajuste de carga e suporte direto comigo pelo WhatsApp.</a:t>
            </a:r>
            <a:endParaRPr lang="en-US" sz="1500" dirty="0"/>
          </a:p>
        </p:txBody>
      </p:sp>
      <p:sp>
        <p:nvSpPr>
          <p:cNvPr id="17" name="sep-67"/>
          <p:cNvSpPr/>
          <p:nvPr/>
        </p:nvSpPr>
        <p:spPr>
          <a:xfrm>
            <a:off x="8938031" y="2606040"/>
            <a:ext cx="0" cy="329184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8" name="txt-68"/>
          <p:cNvSpPr txBox="1"/>
          <p:nvPr/>
        </p:nvSpPr>
        <p:spPr>
          <a:xfrm>
            <a:off x="9075191" y="2331720"/>
            <a:ext cx="25678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</a:t>
            </a:r>
            <a:endParaRPr lang="en-US" sz="12000" dirty="0"/>
          </a:p>
        </p:txBody>
      </p:sp>
      <p:sp>
        <p:nvSpPr>
          <p:cNvPr id="19" name="txt-69"/>
          <p:cNvSpPr txBox="1"/>
          <p:nvPr/>
        </p:nvSpPr>
        <p:spPr>
          <a:xfrm>
            <a:off x="9075191" y="4069080"/>
            <a:ext cx="238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Sustentação</a:t>
            </a:r>
            <a:endParaRPr lang="en-US" sz="2100" dirty="0"/>
          </a:p>
        </p:txBody>
      </p:sp>
      <p:sp>
        <p:nvSpPr>
          <p:cNvPr id="20" name="txt-70"/>
          <p:cNvSpPr txBox="1"/>
          <p:nvPr/>
        </p:nvSpPr>
        <p:spPr>
          <a:xfrm>
            <a:off x="9075191" y="4572000"/>
            <a:ext cx="2339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Hábitos e progressão planejada para o resultado ficar. Sem efeito sanfona.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Seus próximos 90 dias, mapeados</a:t>
            </a:r>
            <a:endParaRPr lang="en-US" sz="3600" dirty="0"/>
          </a:p>
        </p:txBody>
      </p:sp>
      <p:sp>
        <p:nvSpPr>
          <p:cNvPr id="4" name="box-71"/>
          <p:cNvSpPr/>
          <p:nvPr/>
        </p:nvSpPr>
        <p:spPr>
          <a:xfrm>
            <a:off x="822960" y="3090672"/>
            <a:ext cx="10607040" cy="6400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xt-72"/>
          <p:cNvSpPr txBox="1"/>
          <p:nvPr/>
        </p:nvSpPr>
        <p:spPr>
          <a:xfrm>
            <a:off x="82296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DIA 0</a:t>
            </a:r>
            <a:endParaRPr lang="en-US" sz="2400" dirty="0"/>
          </a:p>
        </p:txBody>
      </p:sp>
      <p:sp>
        <p:nvSpPr>
          <p:cNvPr id="6" name="marco-73"/>
          <p:cNvSpPr/>
          <p:nvPr/>
        </p:nvSpPr>
        <p:spPr>
          <a:xfrm>
            <a:off x="822960" y="2916936"/>
            <a:ext cx="411480" cy="41148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7" name="txt-74"/>
          <p:cNvSpPr txBox="1"/>
          <p:nvPr/>
        </p:nvSpPr>
        <p:spPr>
          <a:xfrm>
            <a:off x="82296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Ficha e diagnóstico</a:t>
            </a:r>
            <a:endParaRPr lang="en-US" sz="1900" dirty="0"/>
          </a:p>
        </p:txBody>
      </p:sp>
      <p:sp>
        <p:nvSpPr>
          <p:cNvPr id="8" name="txt-75"/>
          <p:cNvSpPr txBox="1"/>
          <p:nvPr/>
        </p:nvSpPr>
        <p:spPr>
          <a:xfrm>
            <a:off x="822960" y="4069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Anamnese, objetivo, rotina e avaliação inicial.</a:t>
            </a:r>
            <a:endParaRPr lang="en-US" sz="1500" dirty="0"/>
          </a:p>
        </p:txBody>
      </p:sp>
      <p:sp>
        <p:nvSpPr>
          <p:cNvPr id="9" name="txt-76"/>
          <p:cNvSpPr txBox="1"/>
          <p:nvPr/>
        </p:nvSpPr>
        <p:spPr>
          <a:xfrm>
            <a:off x="361188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SEMANA 1</a:t>
            </a:r>
            <a:endParaRPr lang="en-US" sz="2400" dirty="0"/>
          </a:p>
        </p:txBody>
      </p:sp>
      <p:sp>
        <p:nvSpPr>
          <p:cNvPr id="10" name="marco-77"/>
          <p:cNvSpPr/>
          <p:nvPr/>
        </p:nvSpPr>
        <p:spPr>
          <a:xfrm>
            <a:off x="3611880" y="2916936"/>
            <a:ext cx="411480" cy="41148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txt-78"/>
          <p:cNvSpPr txBox="1"/>
          <p:nvPr/>
        </p:nvSpPr>
        <p:spPr>
          <a:xfrm>
            <a:off x="361188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Plano no app</a:t>
            </a:r>
            <a:endParaRPr lang="en-US" sz="1900" dirty="0"/>
          </a:p>
        </p:txBody>
      </p:sp>
      <p:sp>
        <p:nvSpPr>
          <p:cNvPr id="12" name="txt-79"/>
          <p:cNvSpPr txBox="1"/>
          <p:nvPr/>
        </p:nvSpPr>
        <p:spPr>
          <a:xfrm>
            <a:off x="3611880" y="4069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Treino individualizado com vídeos de execução, direto no celular.</a:t>
            </a:r>
            <a:endParaRPr lang="en-US" sz="1500" dirty="0"/>
          </a:p>
        </p:txBody>
      </p:sp>
      <p:sp>
        <p:nvSpPr>
          <p:cNvPr id="13" name="txt-80"/>
          <p:cNvSpPr txBox="1"/>
          <p:nvPr/>
        </p:nvSpPr>
        <p:spPr>
          <a:xfrm>
            <a:off x="640080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SEMANAS 2 A 12</a:t>
            </a:r>
            <a:endParaRPr lang="en-US" sz="2400" dirty="0"/>
          </a:p>
        </p:txBody>
      </p:sp>
      <p:sp>
        <p:nvSpPr>
          <p:cNvPr id="14" name="marco-81"/>
          <p:cNvSpPr/>
          <p:nvPr/>
        </p:nvSpPr>
        <p:spPr>
          <a:xfrm>
            <a:off x="6400800" y="2916936"/>
            <a:ext cx="411480" cy="41148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5" name="txt-82"/>
          <p:cNvSpPr txBox="1"/>
          <p:nvPr/>
        </p:nvSpPr>
        <p:spPr>
          <a:xfrm>
            <a:off x="640080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Check-in semanal</a:t>
            </a:r>
            <a:endParaRPr lang="en-US" sz="1900" dirty="0"/>
          </a:p>
        </p:txBody>
      </p:sp>
      <p:sp>
        <p:nvSpPr>
          <p:cNvPr id="16" name="txt-83"/>
          <p:cNvSpPr txBox="1"/>
          <p:nvPr/>
        </p:nvSpPr>
        <p:spPr>
          <a:xfrm>
            <a:off x="6400800" y="4069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Você reporta, eu ajusto carga, volume e estratégia.</a:t>
            </a:r>
            <a:endParaRPr lang="en-US" sz="1500" dirty="0"/>
          </a:p>
        </p:txBody>
      </p:sp>
      <p:sp>
        <p:nvSpPr>
          <p:cNvPr id="17" name="txt-84"/>
          <p:cNvSpPr txBox="1"/>
          <p:nvPr/>
        </p:nvSpPr>
        <p:spPr>
          <a:xfrm>
            <a:off x="918972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DIA 90</a:t>
            </a:r>
            <a:endParaRPr lang="en-US" sz="2400" dirty="0"/>
          </a:p>
        </p:txBody>
      </p:sp>
      <p:sp>
        <p:nvSpPr>
          <p:cNvPr id="18" name="marco-85"/>
          <p:cNvSpPr/>
          <p:nvPr/>
        </p:nvSpPr>
        <p:spPr>
          <a:xfrm>
            <a:off x="9189720" y="2916936"/>
            <a:ext cx="411480" cy="41148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xt-86"/>
          <p:cNvSpPr txBox="1"/>
          <p:nvPr/>
        </p:nvSpPr>
        <p:spPr>
          <a:xfrm>
            <a:off x="918972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Reavaliação</a:t>
            </a:r>
            <a:endParaRPr lang="en-US" sz="1900" dirty="0"/>
          </a:p>
        </p:txBody>
      </p:sp>
      <p:sp>
        <p:nvSpPr>
          <p:cNvPr id="20" name="txt-87"/>
          <p:cNvSpPr txBox="1"/>
          <p:nvPr/>
        </p:nvSpPr>
        <p:spPr>
          <a:xfrm>
            <a:off x="9189720" y="40690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Comparamos números, fotos e medidas e desenhamos o próximo ciclo.</a:t>
            </a:r>
            <a:endParaRPr lang="en-US" sz="1500" dirty="0"/>
          </a:p>
        </p:txBody>
      </p:sp>
      <p:sp>
        <p:nvSpPr>
          <p:cNvPr id="21" name="box-88"/>
          <p:cNvSpPr/>
          <p:nvPr/>
        </p:nvSpPr>
        <p:spPr>
          <a:xfrm>
            <a:off x="548640" y="5349240"/>
            <a:ext cx="11094415" cy="6858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22" name="icone-whats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22976"/>
            <a:ext cx="338328" cy="338328"/>
          </a:xfrm>
          <a:prstGeom prst="rect">
            <a:avLst/>
          </a:prstGeom>
        </p:spPr>
      </p:pic>
      <p:sp>
        <p:nvSpPr>
          <p:cNvPr id="23" name="txt-89"/>
          <p:cNvSpPr txBox="1"/>
          <p:nvPr/>
        </p:nvSpPr>
        <p:spPr>
          <a:xfrm>
            <a:off x="1325880" y="5349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Você nunca fica sozinho entre um treino e outro: suporte direto comigo no WhatsApp durante todo o ciclo.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 QUE VOCÊ RECEBE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Tudo na palma da sua mão</a:t>
            </a:r>
            <a:endParaRPr lang="en-US" sz="3600" dirty="0"/>
          </a:p>
        </p:txBody>
      </p:sp>
      <p:sp>
        <p:nvSpPr>
          <p:cNvPr id="4" name="box-90"/>
          <p:cNvSpPr/>
          <p:nvPr/>
        </p:nvSpPr>
        <p:spPr>
          <a:xfrm>
            <a:off x="777240" y="2194560"/>
            <a:ext cx="3657600" cy="3922776"/>
          </a:xfrm>
          <a:prstGeom prst="rect">
            <a:avLst/>
          </a:prstGeom>
          <a:ln w="38100">
            <a:solidFill>
              <a:schemeClr val="accent1"/>
            </a:solidFill>
            <a:prstDash val="solid"/>
          </a:ln>
        </p:spPr>
      </p:sp>
      <p:pic>
        <p:nvPicPr>
          <p:cNvPr id="5" name="mockup-app" descr="Plano de treino Wilkson Dias no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657600" cy="3922776"/>
          </a:xfrm>
          <a:prstGeom prst="rect">
            <a:avLst/>
          </a:prstGeom>
        </p:spPr>
      </p:pic>
      <p:sp>
        <p:nvSpPr>
          <p:cNvPr id="6" name="circulo-91"/>
          <p:cNvSpPr/>
          <p:nvPr/>
        </p:nvSpPr>
        <p:spPr>
          <a:xfrm>
            <a:off x="4937760" y="20116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e-9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157984"/>
            <a:ext cx="274320" cy="274320"/>
          </a:xfrm>
          <a:prstGeom prst="rect">
            <a:avLst/>
          </a:prstGeom>
        </p:spPr>
      </p:pic>
      <p:sp>
        <p:nvSpPr>
          <p:cNvPr id="8" name="txt-93"/>
          <p:cNvSpPr txBox="1"/>
          <p:nvPr/>
        </p:nvSpPr>
        <p:spPr>
          <a:xfrm>
            <a:off x="5715000" y="1993392"/>
            <a:ext cx="2415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Treino no app</a:t>
            </a:r>
            <a:endParaRPr lang="en-US" sz="1800" dirty="0"/>
          </a:p>
        </p:txBody>
      </p:sp>
      <p:sp>
        <p:nvSpPr>
          <p:cNvPr id="9" name="txt-94"/>
          <p:cNvSpPr txBox="1"/>
          <p:nvPr/>
        </p:nvSpPr>
        <p:spPr>
          <a:xfrm>
            <a:off x="5715000" y="2395728"/>
            <a:ext cx="2415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Séries, cargas e vídeos de execução sempre à mão.</a:t>
            </a:r>
            <a:endParaRPr lang="en-US" sz="1500" dirty="0"/>
          </a:p>
        </p:txBody>
      </p:sp>
      <p:sp>
        <p:nvSpPr>
          <p:cNvPr id="10" name="circulo-95"/>
          <p:cNvSpPr/>
          <p:nvPr/>
        </p:nvSpPr>
        <p:spPr>
          <a:xfrm>
            <a:off x="8450428" y="20116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e-9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732" y="2157984"/>
            <a:ext cx="274320" cy="274320"/>
          </a:xfrm>
          <a:prstGeom prst="rect">
            <a:avLst/>
          </a:prstGeom>
        </p:spPr>
      </p:pic>
      <p:sp>
        <p:nvSpPr>
          <p:cNvPr id="12" name="txt-97"/>
          <p:cNvSpPr txBox="1"/>
          <p:nvPr/>
        </p:nvSpPr>
        <p:spPr>
          <a:xfrm>
            <a:off x="9227668" y="1993392"/>
            <a:ext cx="2415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Ajuste semanal</a:t>
            </a:r>
            <a:endParaRPr lang="en-US" sz="1800" dirty="0"/>
          </a:p>
        </p:txBody>
      </p:sp>
      <p:sp>
        <p:nvSpPr>
          <p:cNvPr id="13" name="txt-98"/>
          <p:cNvSpPr txBox="1"/>
          <p:nvPr/>
        </p:nvSpPr>
        <p:spPr>
          <a:xfrm>
            <a:off x="9227668" y="2395728"/>
            <a:ext cx="2415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plano evolui junto com você, toda semana.</a:t>
            </a:r>
            <a:endParaRPr lang="en-US" sz="1500" dirty="0"/>
          </a:p>
        </p:txBody>
      </p:sp>
      <p:sp>
        <p:nvSpPr>
          <p:cNvPr id="14" name="circulo-99"/>
          <p:cNvSpPr/>
          <p:nvPr/>
        </p:nvSpPr>
        <p:spPr>
          <a:xfrm>
            <a:off x="4937760" y="33832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-10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3529584"/>
            <a:ext cx="274320" cy="274320"/>
          </a:xfrm>
          <a:prstGeom prst="rect">
            <a:avLst/>
          </a:prstGeom>
        </p:spPr>
      </p:pic>
      <p:sp>
        <p:nvSpPr>
          <p:cNvPr id="16" name="txt-101"/>
          <p:cNvSpPr txBox="1"/>
          <p:nvPr/>
        </p:nvSpPr>
        <p:spPr>
          <a:xfrm>
            <a:off x="5715000" y="3364992"/>
            <a:ext cx="2415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Suporte direto</a:t>
            </a:r>
            <a:endParaRPr lang="en-US" sz="1800" dirty="0"/>
          </a:p>
        </p:txBody>
      </p:sp>
      <p:sp>
        <p:nvSpPr>
          <p:cNvPr id="17" name="txt-102"/>
          <p:cNvSpPr txBox="1"/>
          <p:nvPr/>
        </p:nvSpPr>
        <p:spPr>
          <a:xfrm>
            <a:off x="5715000" y="3767328"/>
            <a:ext cx="2415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Dúvida no meio do treino? Fala comigo no WhatsApp.</a:t>
            </a:r>
            <a:endParaRPr lang="en-US" sz="1500" dirty="0"/>
          </a:p>
        </p:txBody>
      </p:sp>
      <p:sp>
        <p:nvSpPr>
          <p:cNvPr id="18" name="circulo-103"/>
          <p:cNvSpPr/>
          <p:nvPr/>
        </p:nvSpPr>
        <p:spPr>
          <a:xfrm>
            <a:off x="8450428" y="33832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e-10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732" y="3529584"/>
            <a:ext cx="274320" cy="274320"/>
          </a:xfrm>
          <a:prstGeom prst="rect">
            <a:avLst/>
          </a:prstGeom>
        </p:spPr>
      </p:pic>
      <p:sp>
        <p:nvSpPr>
          <p:cNvPr id="20" name="txt-105"/>
          <p:cNvSpPr txBox="1"/>
          <p:nvPr/>
        </p:nvSpPr>
        <p:spPr>
          <a:xfrm>
            <a:off x="9227668" y="3364992"/>
            <a:ext cx="2415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Relatório de evolução</a:t>
            </a:r>
            <a:endParaRPr lang="en-US" sz="1800" dirty="0"/>
          </a:p>
        </p:txBody>
      </p:sp>
      <p:sp>
        <p:nvSpPr>
          <p:cNvPr id="21" name="txt-106"/>
          <p:cNvSpPr txBox="1"/>
          <p:nvPr/>
        </p:nvSpPr>
        <p:spPr>
          <a:xfrm>
            <a:off x="9227668" y="3767328"/>
            <a:ext cx="2415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Números, medidas e fotos comparados todo mês.</a:t>
            </a:r>
            <a:endParaRPr lang="en-US" sz="1500" dirty="0"/>
          </a:p>
        </p:txBody>
      </p:sp>
      <p:sp>
        <p:nvSpPr>
          <p:cNvPr id="22" name="circulo-107"/>
          <p:cNvSpPr/>
          <p:nvPr/>
        </p:nvSpPr>
        <p:spPr>
          <a:xfrm>
            <a:off x="4937760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e-10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4901184"/>
            <a:ext cx="274320" cy="274320"/>
          </a:xfrm>
          <a:prstGeom prst="rect">
            <a:avLst/>
          </a:prstGeom>
        </p:spPr>
      </p:pic>
      <p:sp>
        <p:nvSpPr>
          <p:cNvPr id="24" name="txt-109"/>
          <p:cNvSpPr txBox="1"/>
          <p:nvPr/>
        </p:nvSpPr>
        <p:spPr>
          <a:xfrm>
            <a:off x="5715000" y="4736592"/>
            <a:ext cx="2415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Avaliação completa</a:t>
            </a:r>
            <a:endParaRPr lang="en-US" sz="1800" dirty="0"/>
          </a:p>
        </p:txBody>
      </p:sp>
      <p:sp>
        <p:nvSpPr>
          <p:cNvPr id="25" name="txt-110"/>
          <p:cNvSpPr txBox="1"/>
          <p:nvPr/>
        </p:nvSpPr>
        <p:spPr>
          <a:xfrm>
            <a:off x="5715000" y="5138928"/>
            <a:ext cx="2415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Ponto de partida claro e reavaliação a cada ciclo.</a:t>
            </a:r>
            <a:endParaRPr lang="en-US" sz="1500" dirty="0"/>
          </a:p>
        </p:txBody>
      </p:sp>
      <p:sp>
        <p:nvSpPr>
          <p:cNvPr id="26" name="circulo-111"/>
          <p:cNvSpPr/>
          <p:nvPr/>
        </p:nvSpPr>
        <p:spPr>
          <a:xfrm>
            <a:off x="8450428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e-11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6732" y="4901184"/>
            <a:ext cx="274320" cy="274320"/>
          </a:xfrm>
          <a:prstGeom prst="rect">
            <a:avLst/>
          </a:prstGeom>
        </p:spPr>
      </p:pic>
      <p:sp>
        <p:nvSpPr>
          <p:cNvPr id="28" name="txt-113"/>
          <p:cNvSpPr txBox="1"/>
          <p:nvPr/>
        </p:nvSpPr>
        <p:spPr>
          <a:xfrm>
            <a:off x="9227668" y="4736592"/>
            <a:ext cx="2415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Guia de hábitos</a:t>
            </a:r>
            <a:endParaRPr lang="en-US" sz="1800" dirty="0"/>
          </a:p>
        </p:txBody>
      </p:sp>
      <p:sp>
        <p:nvSpPr>
          <p:cNvPr id="29" name="txt-114"/>
          <p:cNvSpPr txBox="1"/>
          <p:nvPr/>
        </p:nvSpPr>
        <p:spPr>
          <a:xfrm>
            <a:off x="9227668" y="5138928"/>
            <a:ext cx="24153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Sono, rotina e organização para o resultado ficar.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POR QUE ONLINE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Online, do jeito certo, ganha de tudo</a:t>
            </a:r>
            <a:endParaRPr lang="en-US" sz="3600" dirty="0"/>
          </a:p>
        </p:txBody>
      </p:sp>
      <p:graphicFrame>
        <p:nvGraphicFramePr>
          <p:cNvPr id="10" name="comparativ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3959352"/>
                <a:gridCol w="2377440"/>
                <a:gridCol w="237744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Planilha pronta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Personal presencial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Consultoria WD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Treino individualizado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Não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Ajustes semanais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Não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Às vezes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Treina onde e quando quiser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Não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Suporte entre os treinos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Não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Raramente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Acompanhamento da evolução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Não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Às vezes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Sim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Saira" pitchFamily="34" charset="0"/>
                          <a:ea typeface="Saira" pitchFamily="34" charset="-122"/>
                          <a:cs typeface="Saira" pitchFamily="34" charset="-120"/>
                        </a:rPr>
                        <a:t>Investimento mensal</a:t>
                      </a:r>
                      <a:endParaRPr lang="en-US" sz="1500" dirty="0">
                        <a:latin typeface="Saira" charset="0"/>
                        <a:ea typeface="Saira" charset="0"/>
                        <a:cs typeface="Saira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R$ 0 a 50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R$ 1.500+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 partir de R$ 297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-11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diagonais" descr="/tmp/claude-0/-home-user-report-uai/8324a330-e0ac-5b09-8410-ca20346f9793/scratchpad/deck/assets/stripes_on_yel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4" name="txt-116"/>
          <p:cNvSpPr txBox="1"/>
          <p:nvPr/>
        </p:nvSpPr>
        <p:spPr>
          <a:xfrm>
            <a:off x="457200" y="20116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</a:t>
            </a:r>
            <a:endParaRPr lang="en-US" sz="17000" dirty="0"/>
          </a:p>
        </p:txBody>
      </p:sp>
      <p:sp>
        <p:nvSpPr>
          <p:cNvPr id="5" name="txt-117"/>
          <p:cNvSpPr txBox="1"/>
          <p:nvPr/>
        </p:nvSpPr>
        <p:spPr>
          <a:xfrm>
            <a:off x="5303520" y="20574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INVESTIMENTO</a:t>
            </a:r>
            <a:endParaRPr lang="en-US" sz="1300" dirty="0"/>
          </a:p>
        </p:txBody>
      </p:sp>
      <p:sp>
        <p:nvSpPr>
          <p:cNvPr id="6" name="txt-118"/>
          <p:cNvSpPr txBox="1"/>
          <p:nvPr/>
        </p:nvSpPr>
        <p:spPr>
          <a:xfrm>
            <a:off x="5303520" y="24688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Escolha o seu nível de acompanhamento</a:t>
            </a:r>
            <a:endParaRPr lang="en-US" sz="4600" dirty="0"/>
          </a:p>
        </p:txBody>
      </p:sp>
      <p:sp>
        <p:nvSpPr>
          <p:cNvPr id="7" name="txt-119"/>
          <p:cNvSpPr txBox="1"/>
          <p:nvPr/>
        </p:nvSpPr>
        <p:spPr>
          <a:xfrm>
            <a:off x="5303520" y="4617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Três formatos, um mesmo método. Muda a proximidade, nunca o padrão.</a:t>
            </a:r>
            <a:endParaRPr lang="en-US" sz="19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FAÇA AS CONTAS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Quanto isso custaria por fora</a:t>
            </a:r>
            <a:endParaRPr lang="en-US" sz="3600" dirty="0"/>
          </a:p>
        </p:txBody>
      </p:sp>
      <p:sp>
        <p:nvSpPr>
          <p:cNvPr id="4" name="box-120"/>
          <p:cNvSpPr/>
          <p:nvPr/>
        </p:nvSpPr>
        <p:spPr>
          <a:xfrm>
            <a:off x="548640" y="1965960"/>
            <a:ext cx="6126480" cy="4114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xt-121"/>
          <p:cNvSpPr txBox="1"/>
          <p:nvPr/>
        </p:nvSpPr>
        <p:spPr>
          <a:xfrm>
            <a:off x="86868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 VOCÊ CONTRATASSE SEPARADO</a:t>
            </a:r>
            <a:endParaRPr lang="en-US" sz="1200" dirty="0"/>
          </a:p>
        </p:txBody>
      </p:sp>
      <p:sp>
        <p:nvSpPr>
          <p:cNvPr id="6" name="txt-122"/>
          <p:cNvSpPr txBox="1"/>
          <p:nvPr/>
        </p:nvSpPr>
        <p:spPr>
          <a:xfrm>
            <a:off x="86868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 presencial, 3x por semana</a:t>
            </a:r>
            <a:endParaRPr lang="en-US" sz="1600" dirty="0"/>
          </a:p>
        </p:txBody>
      </p:sp>
      <p:sp>
        <p:nvSpPr>
          <p:cNvPr id="7" name="txt-123"/>
          <p:cNvSpPr txBox="1"/>
          <p:nvPr/>
        </p:nvSpPr>
        <p:spPr>
          <a:xfrm>
            <a:off x="45720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R$ 1.800/mês</a:t>
            </a:r>
            <a:endParaRPr lang="en-US" sz="1600" dirty="0"/>
          </a:p>
        </p:txBody>
      </p:sp>
      <p:sp>
        <p:nvSpPr>
          <p:cNvPr id="8" name="linha-124"/>
          <p:cNvSpPr/>
          <p:nvPr/>
        </p:nvSpPr>
        <p:spPr>
          <a:xfrm>
            <a:off x="868680" y="3154680"/>
            <a:ext cx="5532120" cy="0"/>
          </a:xfrm>
          <a:prstGeom prst="line">
            <a:avLst/>
          </a:prstGeom>
          <a:noFill/>
          <a:ln w="12700">
            <a:solidFill>
              <a:srgbClr val="D6D1C5"/>
            </a:solidFill>
            <a:prstDash val="dash"/>
          </a:ln>
        </p:spPr>
      </p:sp>
      <p:sp>
        <p:nvSpPr>
          <p:cNvPr id="9" name="txt-125"/>
          <p:cNvSpPr txBox="1"/>
          <p:nvPr/>
        </p:nvSpPr>
        <p:spPr>
          <a:xfrm>
            <a:off x="868680" y="3255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Avaliação física completa</a:t>
            </a:r>
            <a:endParaRPr lang="en-US" sz="1600" dirty="0"/>
          </a:p>
        </p:txBody>
      </p:sp>
      <p:sp>
        <p:nvSpPr>
          <p:cNvPr id="10" name="txt-126"/>
          <p:cNvSpPr txBox="1"/>
          <p:nvPr/>
        </p:nvSpPr>
        <p:spPr>
          <a:xfrm>
            <a:off x="4572000" y="32552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R$ 250</a:t>
            </a:r>
            <a:endParaRPr lang="en-US" sz="1600" dirty="0"/>
          </a:p>
        </p:txBody>
      </p:sp>
      <p:sp>
        <p:nvSpPr>
          <p:cNvPr id="11" name="linha-127"/>
          <p:cNvSpPr/>
          <p:nvPr/>
        </p:nvSpPr>
        <p:spPr>
          <a:xfrm>
            <a:off x="868680" y="3758184"/>
            <a:ext cx="5532120" cy="0"/>
          </a:xfrm>
          <a:prstGeom prst="line">
            <a:avLst/>
          </a:prstGeom>
          <a:noFill/>
          <a:ln w="12700">
            <a:solidFill>
              <a:srgbClr val="D6D1C5"/>
            </a:solidFill>
            <a:prstDash val="dash"/>
          </a:ln>
        </p:spPr>
      </p:sp>
      <p:sp>
        <p:nvSpPr>
          <p:cNvPr id="12" name="txt-128"/>
          <p:cNvSpPr txBox="1"/>
          <p:nvPr/>
        </p:nvSpPr>
        <p:spPr>
          <a:xfrm>
            <a:off x="868680" y="3858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Planilha periodizada e app de treino</a:t>
            </a:r>
            <a:endParaRPr lang="en-US" sz="1600" dirty="0"/>
          </a:p>
        </p:txBody>
      </p:sp>
      <p:sp>
        <p:nvSpPr>
          <p:cNvPr id="13" name="txt-129"/>
          <p:cNvSpPr txBox="1"/>
          <p:nvPr/>
        </p:nvSpPr>
        <p:spPr>
          <a:xfrm>
            <a:off x="4572000" y="3858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R$ 150/mês</a:t>
            </a:r>
            <a:endParaRPr lang="en-US" sz="1600" dirty="0"/>
          </a:p>
        </p:txBody>
      </p:sp>
      <p:sp>
        <p:nvSpPr>
          <p:cNvPr id="14" name="linha-130"/>
          <p:cNvSpPr/>
          <p:nvPr/>
        </p:nvSpPr>
        <p:spPr>
          <a:xfrm>
            <a:off x="868680" y="4361688"/>
            <a:ext cx="5532120" cy="0"/>
          </a:xfrm>
          <a:prstGeom prst="line">
            <a:avLst/>
          </a:prstGeom>
          <a:noFill/>
          <a:ln w="12700">
            <a:solidFill>
              <a:srgbClr val="D6D1C5"/>
            </a:solidFill>
            <a:prstDash val="dash"/>
          </a:ln>
        </p:spPr>
      </p:sp>
      <p:sp>
        <p:nvSpPr>
          <p:cNvPr id="15" name="txt-131"/>
          <p:cNvSpPr txBox="1"/>
          <p:nvPr/>
        </p:nvSpPr>
        <p:spPr>
          <a:xfrm>
            <a:off x="868680" y="4462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Suporte diário com profissional</a:t>
            </a:r>
            <a:endParaRPr lang="en-US" sz="1600" dirty="0"/>
          </a:p>
        </p:txBody>
      </p:sp>
      <p:sp>
        <p:nvSpPr>
          <p:cNvPr id="16" name="txt-132"/>
          <p:cNvSpPr txBox="1"/>
          <p:nvPr/>
        </p:nvSpPr>
        <p:spPr>
          <a:xfrm>
            <a:off x="4572000" y="44622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R$ 400/mês</a:t>
            </a:r>
            <a:endParaRPr lang="en-US" sz="1600" dirty="0"/>
          </a:p>
        </p:txBody>
      </p:sp>
      <p:sp>
        <p:nvSpPr>
          <p:cNvPr id="17" name="linha-133"/>
          <p:cNvSpPr/>
          <p:nvPr/>
        </p:nvSpPr>
        <p:spPr>
          <a:xfrm>
            <a:off x="868680" y="4965192"/>
            <a:ext cx="5532120" cy="0"/>
          </a:xfrm>
          <a:prstGeom prst="line">
            <a:avLst/>
          </a:prstGeom>
          <a:noFill/>
          <a:ln w="12700">
            <a:solidFill>
              <a:srgbClr val="D6D1C5"/>
            </a:solidFill>
            <a:prstDash val="dash"/>
          </a:ln>
        </p:spPr>
      </p:sp>
      <p:sp>
        <p:nvSpPr>
          <p:cNvPr id="18" name="txt-134"/>
          <p:cNvSpPr txBox="1"/>
          <p:nvPr/>
        </p:nvSpPr>
        <p:spPr>
          <a:xfrm>
            <a:off x="86868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Total estimado</a:t>
            </a:r>
            <a:endParaRPr lang="en-US" sz="2100" dirty="0"/>
          </a:p>
        </p:txBody>
      </p:sp>
      <p:sp>
        <p:nvSpPr>
          <p:cNvPr id="19" name="txt-135"/>
          <p:cNvSpPr txBox="1"/>
          <p:nvPr/>
        </p:nvSpPr>
        <p:spPr>
          <a:xfrm>
            <a:off x="3840480" y="5120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i="1" strike="sngStrike" dirty="0">
                <a:solidFill>
                  <a:schemeClr val="accent4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R$ 2.600/mês</a:t>
            </a:r>
            <a:endParaRPr lang="en-US" sz="2600" dirty="0"/>
          </a:p>
        </p:txBody>
      </p:sp>
      <p:sp>
        <p:nvSpPr>
          <p:cNvPr id="20" name="box-136"/>
          <p:cNvSpPr/>
          <p:nvPr/>
        </p:nvSpPr>
        <p:spPr>
          <a:xfrm>
            <a:off x="6995160" y="1965960"/>
            <a:ext cx="4647895" cy="4114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xt-137"/>
          <p:cNvSpPr txBox="1"/>
          <p:nvPr/>
        </p:nvSpPr>
        <p:spPr>
          <a:xfrm>
            <a:off x="7360920" y="2286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NA CONSULTORIA WD</a:t>
            </a:r>
            <a:endParaRPr lang="en-US" sz="1200" dirty="0"/>
          </a:p>
        </p:txBody>
      </p:sp>
      <p:sp>
        <p:nvSpPr>
          <p:cNvPr id="22" name="txt-138"/>
          <p:cNvSpPr txBox="1"/>
          <p:nvPr/>
        </p:nvSpPr>
        <p:spPr>
          <a:xfrm>
            <a:off x="736092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partir de</a:t>
            </a:r>
            <a:endParaRPr lang="en-US" sz="1800" dirty="0"/>
          </a:p>
        </p:txBody>
      </p:sp>
      <p:sp>
        <p:nvSpPr>
          <p:cNvPr id="23" name="preco-139"/>
          <p:cNvSpPr txBox="1"/>
          <p:nvPr/>
        </p:nvSpPr>
        <p:spPr>
          <a:xfrm>
            <a:off x="7360920" y="30632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R$ 297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/mês</a:t>
            </a:r>
            <a:endParaRPr lang="en-US" sz="7200" dirty="0"/>
          </a:p>
        </p:txBody>
      </p:sp>
      <p:sp>
        <p:nvSpPr>
          <p:cNvPr id="24" name="txt-140"/>
          <p:cNvSpPr txBox="1"/>
          <p:nvPr/>
        </p:nvSpPr>
        <p:spPr>
          <a:xfrm>
            <a:off x="7360920" y="4526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Método, acompanhamento e ajustes semanais, de onde você estiver.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PLANOS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Três níveis. Um padrão de excelência.</a:t>
            </a:r>
            <a:endParaRPr lang="en-US" sz="3600" dirty="0"/>
          </a:p>
        </p:txBody>
      </p:sp>
      <p:sp>
        <p:nvSpPr>
          <p:cNvPr id="4" name="box-141"/>
          <p:cNvSpPr/>
          <p:nvPr/>
        </p:nvSpPr>
        <p:spPr>
          <a:xfrm>
            <a:off x="548640" y="1920240"/>
            <a:ext cx="3515258" cy="4206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xt-142"/>
          <p:cNvSpPr txBox="1"/>
          <p:nvPr/>
        </p:nvSpPr>
        <p:spPr>
          <a:xfrm>
            <a:off x="868680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Elite</a:t>
            </a:r>
            <a:endParaRPr lang="en-US" sz="2400" dirty="0"/>
          </a:p>
        </p:txBody>
      </p:sp>
      <p:sp>
        <p:nvSpPr>
          <p:cNvPr id="6" name="txt-143"/>
          <p:cNvSpPr txBox="1"/>
          <p:nvPr/>
        </p:nvSpPr>
        <p:spPr>
          <a:xfrm>
            <a:off x="868680" y="263347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quem quer proximidade total.</a:t>
            </a:r>
            <a:endParaRPr lang="en-US" sz="1400" dirty="0"/>
          </a:p>
        </p:txBody>
      </p:sp>
      <p:sp>
        <p:nvSpPr>
          <p:cNvPr id="7" name="preco-144"/>
          <p:cNvSpPr txBox="1"/>
          <p:nvPr/>
        </p:nvSpPr>
        <p:spPr>
          <a:xfrm>
            <a:off x="868680" y="301752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</a:t>
            </a:r>
            <a:pPr indent="0" marL="0">
              <a:buNone/>
            </a:pPr>
            <a:r>
              <a:rPr lang="en-US" sz="5200" b="1" i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897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/mês</a:t>
            </a:r>
            <a:endParaRPr lang="en-US" sz="1800" dirty="0"/>
          </a:p>
        </p:txBody>
      </p:sp>
      <p:sp>
        <p:nvSpPr>
          <p:cNvPr id="8" name="linha-145"/>
          <p:cNvSpPr/>
          <p:nvPr/>
        </p:nvSpPr>
        <p:spPr>
          <a:xfrm>
            <a:off x="868680" y="402336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9" name="lista-146"/>
          <p:cNvSpPr txBox="1"/>
          <p:nvPr/>
        </p:nvSpPr>
        <p:spPr>
          <a:xfrm>
            <a:off x="822960" y="4160520"/>
            <a:ext cx="3012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Tudo do Performance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Videochamada quinzenal comigo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Correção de execução por vídeo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Atendimento 7 dias por semana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Encontro presencial mensal (na região)</a:t>
            </a:r>
            <a:endParaRPr lang="en-US" sz="1400" dirty="0"/>
          </a:p>
        </p:txBody>
      </p:sp>
      <p:sp>
        <p:nvSpPr>
          <p:cNvPr id="10" name="box-147"/>
          <p:cNvSpPr/>
          <p:nvPr/>
        </p:nvSpPr>
        <p:spPr>
          <a:xfrm>
            <a:off x="4338218" y="1920240"/>
            <a:ext cx="3515258" cy="4206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ox-148"/>
          <p:cNvSpPr/>
          <p:nvPr/>
        </p:nvSpPr>
        <p:spPr>
          <a:xfrm>
            <a:off x="4658258" y="1755648"/>
            <a:ext cx="1463040" cy="32918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txt-149"/>
          <p:cNvSpPr txBox="1"/>
          <p:nvPr/>
        </p:nvSpPr>
        <p:spPr>
          <a:xfrm>
            <a:off x="4658258" y="17556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13" name="txt-150"/>
          <p:cNvSpPr txBox="1"/>
          <p:nvPr/>
        </p:nvSpPr>
        <p:spPr>
          <a:xfrm>
            <a:off x="4658258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Performance</a:t>
            </a:r>
            <a:endParaRPr lang="en-US" sz="2400" dirty="0"/>
          </a:p>
        </p:txBody>
      </p:sp>
      <p:sp>
        <p:nvSpPr>
          <p:cNvPr id="14" name="txt-151"/>
          <p:cNvSpPr txBox="1"/>
          <p:nvPr/>
        </p:nvSpPr>
        <p:spPr>
          <a:xfrm>
            <a:off x="4658258" y="263347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quem quer resultado com constância.</a:t>
            </a:r>
            <a:endParaRPr lang="en-US" sz="1400" dirty="0"/>
          </a:p>
        </p:txBody>
      </p:sp>
      <p:sp>
        <p:nvSpPr>
          <p:cNvPr id="15" name="preco-152"/>
          <p:cNvSpPr txBox="1"/>
          <p:nvPr/>
        </p:nvSpPr>
        <p:spPr>
          <a:xfrm>
            <a:off x="4658258" y="301752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</a:t>
            </a:r>
            <a:pPr indent="0" marL="0">
              <a:buNone/>
            </a:pPr>
            <a:r>
              <a:rPr lang="en-US" sz="52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497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/mês</a:t>
            </a:r>
            <a:endParaRPr lang="en-US" sz="1800" dirty="0"/>
          </a:p>
        </p:txBody>
      </p:sp>
      <p:sp>
        <p:nvSpPr>
          <p:cNvPr id="16" name="linha-153"/>
          <p:cNvSpPr/>
          <p:nvPr/>
        </p:nvSpPr>
        <p:spPr>
          <a:xfrm>
            <a:off x="4658258" y="4023360"/>
            <a:ext cx="287517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7" name="lista-154"/>
          <p:cNvSpPr txBox="1"/>
          <p:nvPr/>
        </p:nvSpPr>
        <p:spPr>
          <a:xfrm>
            <a:off x="4612538" y="4160520"/>
            <a:ext cx="3012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Tudo do Essencial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Check-in e ajuste semanal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Suporte prioritário no WhatsApp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Relatório de evolução mensal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Guia de hábitos e rotina</a:t>
            </a:r>
            <a:endParaRPr lang="en-US" sz="1400" dirty="0"/>
          </a:p>
        </p:txBody>
      </p:sp>
      <p:sp>
        <p:nvSpPr>
          <p:cNvPr id="18" name="box-155"/>
          <p:cNvSpPr/>
          <p:nvPr/>
        </p:nvSpPr>
        <p:spPr>
          <a:xfrm>
            <a:off x="8127797" y="1920240"/>
            <a:ext cx="3515258" cy="4206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xt-156"/>
          <p:cNvSpPr txBox="1"/>
          <p:nvPr/>
        </p:nvSpPr>
        <p:spPr>
          <a:xfrm>
            <a:off x="8447837" y="21762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Essencial</a:t>
            </a:r>
            <a:endParaRPr lang="en-US" sz="2400" dirty="0"/>
          </a:p>
        </p:txBody>
      </p:sp>
      <p:sp>
        <p:nvSpPr>
          <p:cNvPr id="20" name="txt-157"/>
          <p:cNvSpPr txBox="1"/>
          <p:nvPr/>
        </p:nvSpPr>
        <p:spPr>
          <a:xfrm>
            <a:off x="8447837" y="263347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quem já treina e quer direção.</a:t>
            </a:r>
            <a:endParaRPr lang="en-US" sz="1400" dirty="0"/>
          </a:p>
        </p:txBody>
      </p:sp>
      <p:sp>
        <p:nvSpPr>
          <p:cNvPr id="21" name="preco-158"/>
          <p:cNvSpPr txBox="1"/>
          <p:nvPr/>
        </p:nvSpPr>
        <p:spPr>
          <a:xfrm>
            <a:off x="8447837" y="301752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</a:t>
            </a:r>
            <a:pPr indent="0" marL="0">
              <a:buNone/>
            </a:pPr>
            <a:r>
              <a:rPr lang="en-US" sz="5200" b="1" i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297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/mês</a:t>
            </a:r>
            <a:endParaRPr lang="en-US" sz="1800" dirty="0"/>
          </a:p>
        </p:txBody>
      </p:sp>
      <p:sp>
        <p:nvSpPr>
          <p:cNvPr id="22" name="linha-159"/>
          <p:cNvSpPr/>
          <p:nvPr/>
        </p:nvSpPr>
        <p:spPr>
          <a:xfrm>
            <a:off x="8447837" y="402336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3" name="lista-160"/>
          <p:cNvSpPr txBox="1"/>
          <p:nvPr/>
        </p:nvSpPr>
        <p:spPr>
          <a:xfrm>
            <a:off x="8402117" y="4160520"/>
            <a:ext cx="3012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Treino individualizado no app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Vídeos de execução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Ajuste mensal do plano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Suporte no WhatsApp em dias úteis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Avaliação inicial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COMPROMISSO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Mais compromisso, menos investimento</a:t>
            </a:r>
            <a:endParaRPr lang="en-US" sz="3600" dirty="0"/>
          </a:p>
        </p:txBody>
      </p:sp>
      <p:sp>
        <p:nvSpPr>
          <p:cNvPr id="4" name="box-161"/>
          <p:cNvSpPr/>
          <p:nvPr/>
        </p:nvSpPr>
        <p:spPr>
          <a:xfrm>
            <a:off x="548640" y="1965960"/>
            <a:ext cx="667512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xt-162"/>
          <p:cNvSpPr txBox="1"/>
          <p:nvPr/>
        </p:nvSpPr>
        <p:spPr>
          <a:xfrm>
            <a:off x="868680" y="1965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Mensal</a:t>
            </a:r>
            <a:endParaRPr lang="en-US" sz="2200" dirty="0"/>
          </a:p>
        </p:txBody>
      </p:sp>
      <p:sp>
        <p:nvSpPr>
          <p:cNvPr id="6" name="valor-163"/>
          <p:cNvSpPr txBox="1"/>
          <p:nvPr/>
        </p:nvSpPr>
        <p:spPr>
          <a:xfrm>
            <a:off x="278892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R$ 497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/mês</a:t>
            </a:r>
            <a:endParaRPr lang="en-US" sz="3000" dirty="0"/>
          </a:p>
        </p:txBody>
      </p:sp>
      <p:sp>
        <p:nvSpPr>
          <p:cNvPr id="7" name="txt-164"/>
          <p:cNvSpPr txBox="1"/>
          <p:nvPr/>
        </p:nvSpPr>
        <p:spPr>
          <a:xfrm>
            <a:off x="5074920" y="19659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Sem fidelidade</a:t>
            </a:r>
            <a:endParaRPr lang="en-US" sz="1500" dirty="0"/>
          </a:p>
        </p:txBody>
      </p:sp>
      <p:sp>
        <p:nvSpPr>
          <p:cNvPr id="8" name="box-165"/>
          <p:cNvSpPr/>
          <p:nvPr/>
        </p:nvSpPr>
        <p:spPr>
          <a:xfrm>
            <a:off x="548640" y="3154680"/>
            <a:ext cx="6675120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xt-166"/>
          <p:cNvSpPr txBox="1"/>
          <p:nvPr/>
        </p:nvSpPr>
        <p:spPr>
          <a:xfrm>
            <a:off x="86868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Trimestral</a:t>
            </a:r>
            <a:endParaRPr lang="en-US" sz="2200" dirty="0"/>
          </a:p>
        </p:txBody>
      </p:sp>
      <p:sp>
        <p:nvSpPr>
          <p:cNvPr id="10" name="valor-167"/>
          <p:cNvSpPr txBox="1"/>
          <p:nvPr/>
        </p:nvSpPr>
        <p:spPr>
          <a:xfrm>
            <a:off x="2788920" y="3154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R$ 447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/mês</a:t>
            </a:r>
            <a:endParaRPr lang="en-US" sz="3000" dirty="0"/>
          </a:p>
        </p:txBody>
      </p:sp>
      <p:sp>
        <p:nvSpPr>
          <p:cNvPr id="11" name="txt-168"/>
          <p:cNvSpPr txBox="1"/>
          <p:nvPr/>
        </p:nvSpPr>
        <p:spPr>
          <a:xfrm>
            <a:off x="5074920" y="31546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Economia de R$ 150</a:t>
            </a:r>
            <a:endParaRPr lang="en-US" sz="1500" dirty="0"/>
          </a:p>
        </p:txBody>
      </p:sp>
      <p:sp>
        <p:nvSpPr>
          <p:cNvPr id="12" name="box-169"/>
          <p:cNvSpPr/>
          <p:nvPr/>
        </p:nvSpPr>
        <p:spPr>
          <a:xfrm>
            <a:off x="548640" y="4343400"/>
            <a:ext cx="6675120" cy="1005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txt-170"/>
          <p:cNvSpPr txBox="1"/>
          <p:nvPr/>
        </p:nvSpPr>
        <p:spPr>
          <a:xfrm>
            <a:off x="868680" y="4343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Semestral</a:t>
            </a:r>
            <a:endParaRPr lang="en-US" sz="2200" dirty="0"/>
          </a:p>
        </p:txBody>
      </p:sp>
      <p:sp>
        <p:nvSpPr>
          <p:cNvPr id="14" name="valor-171"/>
          <p:cNvSpPr txBox="1"/>
          <p:nvPr/>
        </p:nvSpPr>
        <p:spPr>
          <a:xfrm>
            <a:off x="2788920" y="4343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R$ 397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 /mês</a:t>
            </a:r>
            <a:endParaRPr lang="en-US" sz="3000" dirty="0"/>
          </a:p>
        </p:txBody>
      </p:sp>
      <p:sp>
        <p:nvSpPr>
          <p:cNvPr id="15" name="txt-172"/>
          <p:cNvSpPr txBox="1"/>
          <p:nvPr/>
        </p:nvSpPr>
        <p:spPr>
          <a:xfrm>
            <a:off x="5074920" y="43434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Economia de R$ 600</a:t>
            </a:r>
            <a:endParaRPr lang="en-US" sz="1500" dirty="0"/>
          </a:p>
        </p:txBody>
      </p:sp>
      <p:sp>
        <p:nvSpPr>
          <p:cNvPr id="16" name="txt-173"/>
          <p:cNvSpPr txBox="1"/>
          <p:nvPr/>
        </p:nvSpPr>
        <p:spPr>
          <a:xfrm>
            <a:off x="548640" y="5577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Valores do plano Performance. Mesma lógica de desconto no Essencial e no Elite.</a:t>
            </a:r>
            <a:endParaRPr lang="en-US" sz="1200" dirty="0"/>
          </a:p>
        </p:txBody>
      </p:sp>
      <p:sp>
        <p:nvSpPr>
          <p:cNvPr id="17" name="box-174"/>
          <p:cNvSpPr/>
          <p:nvPr/>
        </p:nvSpPr>
        <p:spPr>
          <a:xfrm>
            <a:off x="7589520" y="1965960"/>
            <a:ext cx="4053535" cy="33832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xt-175"/>
          <p:cNvSpPr txBox="1"/>
          <p:nvPr/>
        </p:nvSpPr>
        <p:spPr>
          <a:xfrm>
            <a:off x="7909560" y="2240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NO PLANO SEMESTRAL</a:t>
            </a:r>
            <a:endParaRPr lang="en-US" sz="1200" dirty="0"/>
          </a:p>
        </p:txBody>
      </p:sp>
      <p:sp>
        <p:nvSpPr>
          <p:cNvPr id="19" name="txt-176"/>
          <p:cNvSpPr txBox="1"/>
          <p:nvPr/>
        </p:nvSpPr>
        <p:spPr>
          <a:xfrm>
            <a:off x="7909560" y="26060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i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R$ 13</a:t>
            </a:r>
            <a:endParaRPr lang="en-US" sz="9200" dirty="0"/>
          </a:p>
        </p:txBody>
      </p:sp>
      <p:sp>
        <p:nvSpPr>
          <p:cNvPr id="20" name="txt-177"/>
          <p:cNvSpPr txBox="1"/>
          <p:nvPr/>
        </p:nvSpPr>
        <p:spPr>
          <a:xfrm>
            <a:off x="790956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por dia</a:t>
            </a:r>
            <a:endParaRPr lang="en-US" sz="2200" dirty="0"/>
          </a:p>
        </p:txBody>
      </p:sp>
      <p:sp>
        <p:nvSpPr>
          <p:cNvPr id="21" name="txt-178"/>
          <p:cNvSpPr txBox="1"/>
          <p:nvPr/>
        </p:nvSpPr>
        <p:spPr>
          <a:xfrm>
            <a:off x="7909560" y="4434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Menos que um delivery. Mais que qualquer desculpa.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SEM DESCULPAS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Mas e se...</a:t>
            </a:r>
            <a:endParaRPr lang="en-US" sz="3600" dirty="0"/>
          </a:p>
        </p:txBody>
      </p:sp>
      <p:sp>
        <p:nvSpPr>
          <p:cNvPr id="4" name="box-179"/>
          <p:cNvSpPr/>
          <p:nvPr/>
        </p:nvSpPr>
        <p:spPr>
          <a:xfrm>
            <a:off x="548640" y="1965960"/>
            <a:ext cx="5410048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xt-180"/>
          <p:cNvSpPr txBox="1"/>
          <p:nvPr/>
        </p:nvSpPr>
        <p:spPr>
          <a:xfrm>
            <a:off x="914400" y="224028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“Eu não tenho tempo.”</a:t>
            </a:r>
            <a:endParaRPr lang="en-US" sz="2400" dirty="0"/>
          </a:p>
        </p:txBody>
      </p:sp>
      <p:sp>
        <p:nvSpPr>
          <p:cNvPr id="6" name="txt-181"/>
          <p:cNvSpPr txBox="1"/>
          <p:nvPr/>
        </p:nvSpPr>
        <p:spPr>
          <a:xfrm>
            <a:off x="914400" y="2862072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Treinos de 30 a 50 minutos, desenhados para os dias que você realmente tem.</a:t>
            </a:r>
            <a:endParaRPr lang="en-US" sz="1600" dirty="0"/>
          </a:p>
        </p:txBody>
      </p:sp>
      <p:sp>
        <p:nvSpPr>
          <p:cNvPr id="7" name="box-182"/>
          <p:cNvSpPr/>
          <p:nvPr/>
        </p:nvSpPr>
        <p:spPr>
          <a:xfrm>
            <a:off x="6233008" y="1965960"/>
            <a:ext cx="5410048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-183"/>
          <p:cNvSpPr txBox="1"/>
          <p:nvPr/>
        </p:nvSpPr>
        <p:spPr>
          <a:xfrm>
            <a:off x="6598768" y="224028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“Eu treino em casa.”</a:t>
            </a:r>
            <a:endParaRPr lang="en-US" sz="2400" dirty="0"/>
          </a:p>
        </p:txBody>
      </p:sp>
      <p:sp>
        <p:nvSpPr>
          <p:cNvPr id="9" name="txt-184"/>
          <p:cNvSpPr txBox="1"/>
          <p:nvPr/>
        </p:nvSpPr>
        <p:spPr>
          <a:xfrm>
            <a:off x="6598768" y="2862072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plano se adapta ao seu espaço: academia, casa com ou sem equipamento, ao ar livre.</a:t>
            </a:r>
            <a:endParaRPr lang="en-US" sz="1600" dirty="0"/>
          </a:p>
        </p:txBody>
      </p:sp>
      <p:sp>
        <p:nvSpPr>
          <p:cNvPr id="10" name="box-185"/>
          <p:cNvSpPr/>
          <p:nvPr/>
        </p:nvSpPr>
        <p:spPr>
          <a:xfrm>
            <a:off x="548640" y="4023360"/>
            <a:ext cx="5410048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xt-186"/>
          <p:cNvSpPr txBox="1"/>
          <p:nvPr/>
        </p:nvSpPr>
        <p:spPr>
          <a:xfrm>
            <a:off x="914400" y="429768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“Já tentei online e não deu.”</a:t>
            </a:r>
            <a:endParaRPr lang="en-US" sz="2400" dirty="0"/>
          </a:p>
        </p:txBody>
      </p:sp>
      <p:sp>
        <p:nvSpPr>
          <p:cNvPr id="12" name="txt-187"/>
          <p:cNvSpPr txBox="1"/>
          <p:nvPr/>
        </p:nvSpPr>
        <p:spPr>
          <a:xfrm>
            <a:off x="914400" y="4919472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Aqui não é planilha enviada e esquecida. Tem check-in toda semana e ajuste de verdade.</a:t>
            </a:r>
            <a:endParaRPr lang="en-US" sz="1600" dirty="0"/>
          </a:p>
        </p:txBody>
      </p:sp>
      <p:sp>
        <p:nvSpPr>
          <p:cNvPr id="13" name="box-188"/>
          <p:cNvSpPr/>
          <p:nvPr/>
        </p:nvSpPr>
        <p:spPr>
          <a:xfrm>
            <a:off x="6233008" y="4023360"/>
            <a:ext cx="5410048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-189"/>
          <p:cNvSpPr txBox="1"/>
          <p:nvPr/>
        </p:nvSpPr>
        <p:spPr>
          <a:xfrm>
            <a:off x="6598768" y="429768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“Tenho dor ou lesão.”</a:t>
            </a:r>
            <a:endParaRPr lang="en-US" sz="2400" dirty="0"/>
          </a:p>
        </p:txBody>
      </p:sp>
      <p:sp>
        <p:nvSpPr>
          <p:cNvPr id="15" name="txt-190"/>
          <p:cNvSpPr txBox="1"/>
          <p:nvPr/>
        </p:nvSpPr>
        <p:spPr>
          <a:xfrm>
            <a:off x="6598768" y="4919472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Tudo começa pela anamnese. Segurança vem antes de carga, sempre.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PROVA SOCIAL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Quem já está em ritmo</a:t>
            </a:r>
            <a:endParaRPr lang="en-US" sz="3600" dirty="0"/>
          </a:p>
        </p:txBody>
      </p:sp>
      <p:pic>
        <p:nvPicPr>
          <p:cNvPr id="4" name="foto-aluno-191" descr="Foto de antes e depois do alun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3515258" cy="1965960"/>
          </a:xfrm>
          <a:prstGeom prst="rect">
            <a:avLst/>
          </a:prstGeom>
        </p:spPr>
      </p:pic>
      <p:sp>
        <p:nvSpPr>
          <p:cNvPr id="5" name="txt-192"/>
          <p:cNvSpPr txBox="1"/>
          <p:nvPr/>
        </p:nvSpPr>
        <p:spPr>
          <a:xfrm>
            <a:off x="548640" y="4069080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“Escreva aqui o depoimento do aluno, em uma ou duas frases.”</a:t>
            </a:r>
            <a:endParaRPr lang="en-US" sz="1500" dirty="0"/>
          </a:p>
        </p:txBody>
      </p:sp>
      <p:sp>
        <p:nvSpPr>
          <p:cNvPr id="6" name="txt-193"/>
          <p:cNvSpPr txBox="1"/>
          <p:nvPr/>
        </p:nvSpPr>
        <p:spPr>
          <a:xfrm>
            <a:off x="548640" y="5029200"/>
            <a:ext cx="351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Nome do aluno</a:t>
            </a:r>
            <a:endParaRPr lang="en-US" sz="1600" dirty="0"/>
          </a:p>
        </p:txBody>
      </p:sp>
      <p:sp>
        <p:nvSpPr>
          <p:cNvPr id="7" name="txt-194"/>
          <p:cNvSpPr txBox="1"/>
          <p:nvPr/>
        </p:nvSpPr>
        <p:spPr>
          <a:xfrm>
            <a:off x="548640" y="5394960"/>
            <a:ext cx="351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−0 kg em 00 semanas</a:t>
            </a:r>
            <a:endParaRPr lang="en-US" sz="1500" dirty="0"/>
          </a:p>
        </p:txBody>
      </p:sp>
      <p:pic>
        <p:nvPicPr>
          <p:cNvPr id="8" name="foto-aluno-195" descr="Foto de antes e depois do alun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38218" y="1920240"/>
            <a:ext cx="3515258" cy="1965960"/>
          </a:xfrm>
          <a:prstGeom prst="rect">
            <a:avLst/>
          </a:prstGeom>
        </p:spPr>
      </p:pic>
      <p:sp>
        <p:nvSpPr>
          <p:cNvPr id="9" name="txt-196"/>
          <p:cNvSpPr txBox="1"/>
          <p:nvPr/>
        </p:nvSpPr>
        <p:spPr>
          <a:xfrm>
            <a:off x="4338218" y="4069080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“Escreva aqui o depoimento do aluno, em uma ou duas frases.”</a:t>
            </a:r>
            <a:endParaRPr lang="en-US" sz="1500" dirty="0"/>
          </a:p>
        </p:txBody>
      </p:sp>
      <p:sp>
        <p:nvSpPr>
          <p:cNvPr id="10" name="txt-197"/>
          <p:cNvSpPr txBox="1"/>
          <p:nvPr/>
        </p:nvSpPr>
        <p:spPr>
          <a:xfrm>
            <a:off x="4338218" y="5029200"/>
            <a:ext cx="351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Nome do aluno</a:t>
            </a:r>
            <a:endParaRPr lang="en-US" sz="1600" dirty="0"/>
          </a:p>
        </p:txBody>
      </p:sp>
      <p:sp>
        <p:nvSpPr>
          <p:cNvPr id="11" name="txt-198"/>
          <p:cNvSpPr txBox="1"/>
          <p:nvPr/>
        </p:nvSpPr>
        <p:spPr>
          <a:xfrm>
            <a:off x="4338218" y="5394960"/>
            <a:ext cx="351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−0 kg em 00 semanas</a:t>
            </a:r>
            <a:endParaRPr lang="en-US" sz="1500" dirty="0"/>
          </a:p>
        </p:txBody>
      </p:sp>
      <p:pic>
        <p:nvPicPr>
          <p:cNvPr id="12" name="foto-aluno-199" descr="Foto de antes e depois do alun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7797" y="1920240"/>
            <a:ext cx="3515258" cy="1965960"/>
          </a:xfrm>
          <a:prstGeom prst="rect">
            <a:avLst/>
          </a:prstGeom>
        </p:spPr>
      </p:pic>
      <p:sp>
        <p:nvSpPr>
          <p:cNvPr id="13" name="txt-200"/>
          <p:cNvSpPr txBox="1"/>
          <p:nvPr/>
        </p:nvSpPr>
        <p:spPr>
          <a:xfrm>
            <a:off x="8127797" y="4069080"/>
            <a:ext cx="3515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“Escreva aqui o depoimento do aluno, em uma ou duas frases.”</a:t>
            </a:r>
            <a:endParaRPr lang="en-US" sz="1500" dirty="0"/>
          </a:p>
        </p:txBody>
      </p:sp>
      <p:sp>
        <p:nvSpPr>
          <p:cNvPr id="14" name="txt-201"/>
          <p:cNvSpPr txBox="1"/>
          <p:nvPr/>
        </p:nvSpPr>
        <p:spPr>
          <a:xfrm>
            <a:off x="8127797" y="5029200"/>
            <a:ext cx="351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Nome do aluno</a:t>
            </a:r>
            <a:endParaRPr lang="en-US" sz="1600" dirty="0"/>
          </a:p>
        </p:txBody>
      </p:sp>
      <p:sp>
        <p:nvSpPr>
          <p:cNvPr id="15" name="txt-202"/>
          <p:cNvSpPr txBox="1"/>
          <p:nvPr/>
        </p:nvSpPr>
        <p:spPr>
          <a:xfrm>
            <a:off x="8127797" y="5394960"/>
            <a:ext cx="3515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−0 kg em 00 semanas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onais" descr="/tmp/claude-0/-home-user-report-uai/8324a330-e0ac-5b09-8410-ca20346f9793/scratchpad/deck/assets/stripes_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txt-203"/>
          <p:cNvSpPr txBox="1"/>
          <p:nvPr/>
        </p:nvSpPr>
        <p:spPr>
          <a:xfrm>
            <a:off x="365760" y="548640"/>
            <a:ext cx="420624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7</a:t>
            </a:r>
            <a:endParaRPr lang="en-US" sz="36000" dirty="0"/>
          </a:p>
        </p:txBody>
      </p:sp>
      <p:sp>
        <p:nvSpPr>
          <p:cNvPr id="4" name="txt-204"/>
          <p:cNvSpPr txBox="1"/>
          <p:nvPr/>
        </p:nvSpPr>
        <p:spPr>
          <a:xfrm>
            <a:off x="5120640" y="1600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RISCO ZERO</a:t>
            </a:r>
            <a:endParaRPr lang="en-US" sz="1300" dirty="0"/>
          </a:p>
        </p:txBody>
      </p:sp>
      <p:sp>
        <p:nvSpPr>
          <p:cNvPr id="5" name="txt-205"/>
          <p:cNvSpPr txBox="1"/>
          <p:nvPr/>
        </p:nvSpPr>
        <p:spPr>
          <a:xfrm>
            <a:off x="5120640" y="201168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7 dias de garantia incondicional</a:t>
            </a:r>
            <a:endParaRPr lang="en-US" sz="4400" dirty="0"/>
          </a:p>
        </p:txBody>
      </p:sp>
      <p:sp>
        <p:nvSpPr>
          <p:cNvPr id="6" name="txt-206"/>
          <p:cNvSpPr txBox="1"/>
          <p:nvPr/>
        </p:nvSpPr>
        <p:spPr>
          <a:xfrm>
            <a:off x="5120640" y="3703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Comece, conheça o método e o acompanhamento. Se em até 7 dias você sentir que não é pra você, devolvo 100% do valor. Sem perguntas.</a:t>
            </a:r>
            <a:endParaRPr lang="en-US" sz="1800" dirty="0"/>
          </a:p>
        </p:txBody>
      </p:sp>
      <p:sp>
        <p:nvSpPr>
          <p:cNvPr id="7" name="box-207"/>
          <p:cNvSpPr/>
          <p:nvPr/>
        </p:nvSpPr>
        <p:spPr>
          <a:xfrm>
            <a:off x="5120640" y="5120640"/>
            <a:ext cx="4937760" cy="566928"/>
          </a:xfrm>
          <a:prstGeom prst="rect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8" name="txt-208"/>
          <p:cNvSpPr txBox="1"/>
          <p:nvPr/>
        </p:nvSpPr>
        <p:spPr>
          <a:xfrm>
            <a:off x="5120640" y="51206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Seu único risco é continuar como está.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2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412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Do sim ao primeiro treino em 48 horas</a:t>
            </a:r>
            <a:endParaRPr lang="en-US" sz="3600" dirty="0"/>
          </a:p>
        </p:txBody>
      </p:sp>
      <p:sp>
        <p:nvSpPr>
          <p:cNvPr id="4" name="box-209"/>
          <p:cNvSpPr/>
          <p:nvPr/>
        </p:nvSpPr>
        <p:spPr>
          <a:xfrm>
            <a:off x="548640" y="196596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xt-210"/>
          <p:cNvSpPr txBox="1"/>
          <p:nvPr/>
        </p:nvSpPr>
        <p:spPr>
          <a:xfrm>
            <a:off x="822960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xt-211"/>
          <p:cNvSpPr txBox="1"/>
          <p:nvPr/>
        </p:nvSpPr>
        <p:spPr>
          <a:xfrm>
            <a:off x="822960" y="30632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Ficha de atleta</a:t>
            </a:r>
            <a:endParaRPr lang="en-US" sz="1800" dirty="0"/>
          </a:p>
        </p:txBody>
      </p:sp>
      <p:sp>
        <p:nvSpPr>
          <p:cNvPr id="7" name="txt-212"/>
          <p:cNvSpPr txBox="1"/>
          <p:nvPr/>
        </p:nvSpPr>
        <p:spPr>
          <a:xfrm>
            <a:off x="822960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minutos para eu entender seu ponto de partida.</a:t>
            </a:r>
            <a:endParaRPr lang="en-US" sz="1500" dirty="0"/>
          </a:p>
        </p:txBody>
      </p:sp>
      <p:sp>
        <p:nvSpPr>
          <p:cNvPr id="8" name="seta-213"/>
          <p:cNvSpPr/>
          <p:nvPr/>
        </p:nvSpPr>
        <p:spPr>
          <a:xfrm>
            <a:off x="3180512" y="3063240"/>
            <a:ext cx="146304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9" name="box-214"/>
          <p:cNvSpPr/>
          <p:nvPr/>
        </p:nvSpPr>
        <p:spPr>
          <a:xfrm>
            <a:off x="3390824" y="196596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xt-215"/>
          <p:cNvSpPr txBox="1"/>
          <p:nvPr/>
        </p:nvSpPr>
        <p:spPr>
          <a:xfrm>
            <a:off x="3665144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xt-216"/>
          <p:cNvSpPr txBox="1"/>
          <p:nvPr/>
        </p:nvSpPr>
        <p:spPr>
          <a:xfrm>
            <a:off x="3665144" y="30632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12" name="txt-217"/>
          <p:cNvSpPr txBox="1"/>
          <p:nvPr/>
        </p:nvSpPr>
        <p:spPr>
          <a:xfrm>
            <a:off x="3665144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 minutos para alinhar objetivo, prazo e plano ideal.</a:t>
            </a:r>
            <a:endParaRPr lang="en-US" sz="1500" dirty="0"/>
          </a:p>
        </p:txBody>
      </p:sp>
      <p:sp>
        <p:nvSpPr>
          <p:cNvPr id="13" name="seta-218"/>
          <p:cNvSpPr/>
          <p:nvPr/>
        </p:nvSpPr>
        <p:spPr>
          <a:xfrm>
            <a:off x="6022696" y="3063240"/>
            <a:ext cx="146304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4" name="box-219"/>
          <p:cNvSpPr/>
          <p:nvPr/>
        </p:nvSpPr>
        <p:spPr>
          <a:xfrm>
            <a:off x="6233008" y="196596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xt-220"/>
          <p:cNvSpPr txBox="1"/>
          <p:nvPr/>
        </p:nvSpPr>
        <p:spPr>
          <a:xfrm>
            <a:off x="6507328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3</a:t>
            </a:r>
            <a:endParaRPr lang="en-US" sz="6000" dirty="0"/>
          </a:p>
        </p:txBody>
      </p:sp>
      <p:sp>
        <p:nvSpPr>
          <p:cNvPr id="16" name="txt-221"/>
          <p:cNvSpPr txBox="1"/>
          <p:nvPr/>
        </p:nvSpPr>
        <p:spPr>
          <a:xfrm>
            <a:off x="6507328" y="30632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Escolha do plano</a:t>
            </a:r>
            <a:endParaRPr lang="en-US" sz="1800" dirty="0"/>
          </a:p>
        </p:txBody>
      </p:sp>
      <p:sp>
        <p:nvSpPr>
          <p:cNvPr id="17" name="txt-222"/>
          <p:cNvSpPr txBox="1"/>
          <p:nvPr/>
        </p:nvSpPr>
        <p:spPr>
          <a:xfrm>
            <a:off x="6507328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Pagamento simples, sem burocracia.</a:t>
            </a:r>
            <a:endParaRPr lang="en-US" sz="1500" dirty="0"/>
          </a:p>
        </p:txBody>
      </p:sp>
      <p:sp>
        <p:nvSpPr>
          <p:cNvPr id="18" name="seta-223"/>
          <p:cNvSpPr/>
          <p:nvPr/>
        </p:nvSpPr>
        <p:spPr>
          <a:xfrm>
            <a:off x="8864879" y="3063240"/>
            <a:ext cx="146304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9" name="box-224"/>
          <p:cNvSpPr/>
          <p:nvPr/>
        </p:nvSpPr>
        <p:spPr>
          <a:xfrm>
            <a:off x="9075191" y="1965960"/>
            <a:ext cx="2567864" cy="2514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xt-225"/>
          <p:cNvSpPr txBox="1"/>
          <p:nvPr/>
        </p:nvSpPr>
        <p:spPr>
          <a:xfrm>
            <a:off x="9349511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i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4</a:t>
            </a:r>
            <a:endParaRPr lang="en-US" sz="6000" dirty="0"/>
          </a:p>
        </p:txBody>
      </p:sp>
      <p:sp>
        <p:nvSpPr>
          <p:cNvPr id="21" name="txt-226"/>
          <p:cNvSpPr txBox="1"/>
          <p:nvPr/>
        </p:nvSpPr>
        <p:spPr>
          <a:xfrm>
            <a:off x="9349511" y="30632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Primeiro treino</a:t>
            </a:r>
            <a:endParaRPr lang="en-US" sz="1800" dirty="0"/>
          </a:p>
        </p:txBody>
      </p:sp>
      <p:sp>
        <p:nvSpPr>
          <p:cNvPr id="22" name="txt-227"/>
          <p:cNvSpPr txBox="1"/>
          <p:nvPr/>
        </p:nvSpPr>
        <p:spPr>
          <a:xfrm>
            <a:off x="9349511" y="352044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Seu plano no app em até 48 horas.</a:t>
            </a:r>
            <a:endParaRPr lang="en-US" sz="1500" dirty="0"/>
          </a:p>
        </p:txBody>
      </p:sp>
      <p:sp>
        <p:nvSpPr>
          <p:cNvPr id="23" name="box-228"/>
          <p:cNvSpPr/>
          <p:nvPr/>
        </p:nvSpPr>
        <p:spPr>
          <a:xfrm>
            <a:off x="548640" y="4892040"/>
            <a:ext cx="4297680" cy="8229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4" name="txt-229"/>
          <p:cNvSpPr txBox="1"/>
          <p:nvPr/>
        </p:nvSpPr>
        <p:spPr>
          <a:xfrm>
            <a:off x="548640" y="4892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300" kern="0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QUERO COMEÇAR AGORA  →</a:t>
            </a:r>
            <a:endParaRPr lang="en-US" sz="1900" dirty="0"/>
          </a:p>
        </p:txBody>
      </p:sp>
      <p:pic>
        <p:nvPicPr>
          <p:cNvPr id="25" name="icone-whats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956048"/>
            <a:ext cx="292608" cy="292608"/>
          </a:xfrm>
          <a:prstGeom prst="rect">
            <a:avLst/>
          </a:prstGeom>
        </p:spPr>
      </p:pic>
      <p:sp>
        <p:nvSpPr>
          <p:cNvPr id="26" name="txt-230"/>
          <p:cNvSpPr txBox="1"/>
          <p:nvPr/>
        </p:nvSpPr>
        <p:spPr>
          <a:xfrm>
            <a:off x="5715000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(00) 00000-0000</a:t>
            </a:r>
            <a:endParaRPr lang="en-US" sz="1700" dirty="0"/>
          </a:p>
        </p:txBody>
      </p:sp>
      <p:pic>
        <p:nvPicPr>
          <p:cNvPr id="27" name="icone-instagra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76672"/>
            <a:ext cx="292608" cy="292608"/>
          </a:xfrm>
          <a:prstGeom prst="rect">
            <a:avLst/>
          </a:prstGeom>
        </p:spPr>
      </p:pic>
      <p:sp>
        <p:nvSpPr>
          <p:cNvPr id="28" name="txt-231"/>
          <p:cNvSpPr txBox="1"/>
          <p:nvPr/>
        </p:nvSpPr>
        <p:spPr>
          <a:xfrm>
            <a:off x="5715000" y="5340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@seuinstagram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3679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Saira"/>
                <a:ea typeface="Saira"/>
                <a:cs typeface="Saira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gonais" descr="/tmp/claude-0/-home-user-report-uai/8324a330-e0ac-5b09-8410-ca20346f9793/scratchpad/deck/assets/stripes_dark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user-report-uai/8324a330-e0ac-5b09-8410-ca20346f9793/scratchpad/deck/assets/logo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2377440" cy="1475842"/>
          </a:xfrm>
          <a:prstGeom prst="rect">
            <a:avLst/>
          </a:prstGeom>
        </p:spPr>
      </p:pic>
      <p:sp>
        <p:nvSpPr>
          <p:cNvPr id="4" name="assinatura-232"/>
          <p:cNvSpPr txBox="1"/>
          <p:nvPr/>
        </p:nvSpPr>
        <p:spPr>
          <a:xfrm>
            <a:off x="548640" y="2926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Consistência </a:t>
            </a:r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todos os dias.</a:t>
            </a:r>
            <a:endParaRPr lang="en-US" sz="6000" dirty="0"/>
          </a:p>
        </p:txBody>
      </p:sp>
      <p:sp>
        <p:nvSpPr>
          <p:cNvPr id="5" name="txt-233"/>
          <p:cNvSpPr txBox="1"/>
          <p:nvPr/>
        </p:nvSpPr>
        <p:spPr>
          <a:xfrm>
            <a:off x="548640" y="4206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Obrigado. Vamos começar?</a:t>
            </a:r>
            <a:endParaRPr lang="en-US" sz="2200" dirty="0"/>
          </a:p>
        </p:txBody>
      </p:sp>
      <p:sp>
        <p:nvSpPr>
          <p:cNvPr id="6" name="txt-234"/>
          <p:cNvSpPr txBox="1"/>
          <p:nvPr/>
        </p:nvSpPr>
        <p:spPr>
          <a:xfrm>
            <a:off x="54864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bg1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WHATSAPP (00) 00000-0000   ·   @SEUINSTAGRAM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Wilkson Dias">
  <a:themeElements>
    <a:clrScheme name="Wilkson Dias">
      <a:dk1>
        <a:srgbClr val="111111"/>
      </a:dk1>
      <a:lt1>
        <a:srgbClr val="FFFFFF"/>
      </a:lt1>
      <a:dk2>
        <a:srgbClr val="1A1814"/>
      </a:dk2>
      <a:lt2>
        <a:srgbClr val="F6F4EF"/>
      </a:lt2>
      <a:accent1>
        <a:srgbClr val="F5B400"/>
      </a:accent1>
      <a:accent2>
        <a:srgbClr val="946800"/>
      </a:accent2>
      <a:accent3>
        <a:srgbClr val="2F2B23"/>
      </a:accent3>
      <a:accent4>
        <a:srgbClr val="6B665B"/>
      </a:accent4>
      <a:accent5>
        <a:srgbClr val="E3DFD5"/>
      </a:accent5>
      <a:accent6>
        <a:srgbClr val="A29C8F"/>
      </a:accent6>
      <a:hlink>
        <a:srgbClr val="946800"/>
      </a:hlink>
      <a:folHlink>
        <a:srgbClr val="6B665B"/>
      </a:folHlink>
    </a:clrScheme>
    <a:fontScheme name="Wilkson Dias">
      <a:majorFont>
        <a:latin typeface="Sai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Consultoria Online Wilkson Dias</dc:title>
  <dc:subject>PptxGenJS Presentation</dc:subject>
  <dc:creator>Wilkson Dias Personal Trainer</dc:creator>
  <cp:lastModifiedBy>Wilkson Dias Personal Trainer</cp:lastModifiedBy>
  <cp:revision>1</cp:revision>
  <dcterms:created xsi:type="dcterms:W3CDTF">2026-10-28T14:37:22Z</dcterms:created>
  <dcterms:modified xsi:type="dcterms:W3CDTF">2026-10-28T14:37:22Z</dcterms:modified>
</cp:coreProperties>
</file>